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18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17.xml.rels" ContentType="application/vnd.openxmlformats-package.relationships+xml"/>
  <Override PartName="/ppt/slides/_rels/slide3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BBD78FB-6524-4E95-B3A9-2F3AA6D67E6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32567223-A679-43D6-A6E1-2C36FE1FF0E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46E41C99-D161-46EA-8076-CF7519E69DE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2F15C012-2B3E-4309-9CA6-BF0C08232A0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7EEDC28B-A99C-4FB4-8D9F-F4EE541CF5C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AB259839-83FE-4302-BD5B-A8952A9B708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097F151B-7B1A-47BB-9046-12A944D951B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1C533C7D-35EC-47AE-BD87-9DA31D5E8D9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77E8E040-DCC4-4BAB-B683-472B9D207CF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1D74C04B-6056-491F-B61D-07AB8F4D6ED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003FAA7C-8C2C-42EA-8638-A85C68DF407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89E6F3D-28C1-45D5-B46A-3FAC400D2DB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ECA6715-F243-4BFE-B8D0-0DBCAC5E5B8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ic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k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di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a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yl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721B579-AE51-49EC-BB32-FF9938617916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83EDCDF-8C9A-4549-BFA9-4A26B4C85DF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to edit Master 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title 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F885235-2D0E-4164-B344-ECDED9CAB44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AE8D878-5324-4F4F-9FF3-E7F18A3A42F0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58E1E33-2A64-4041-BA87-F0522DBF7E3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5D33855-1F8F-4085-B954-39A4D417380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95DD987-8116-4AE0-B253-43A5BC90BFF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5508737-355B-414F-9600-A9B62C0B3C4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FF861E6-6233-44EF-A1A7-1C8BE1EA343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afb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" name="Rectangle 2"/>
          <p:cNvSpPr/>
          <p:nvPr/>
        </p:nvSpPr>
        <p:spPr>
          <a:xfrm>
            <a:off x="0" y="2377440"/>
            <a:ext cx="12191400" cy="1828440"/>
          </a:xfrm>
          <a:prstGeom prst="rect">
            <a:avLst/>
          </a:prstGeom>
          <a:solidFill>
            <a:srgbClr val="0b3d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" name="TextBox 3"/>
          <p:cNvSpPr/>
          <p:nvPr/>
        </p:nvSpPr>
        <p:spPr>
          <a:xfrm>
            <a:off x="548640" y="2514600"/>
            <a:ext cx="1097244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PHONEBOT TECHNICAL CHALLENGE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TextBox 4"/>
          <p:cNvSpPr/>
          <p:nvPr/>
        </p:nvSpPr>
        <p:spPr>
          <a:xfrm>
            <a:off x="548640" y="2834640"/>
            <a:ext cx="10972440" cy="10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1" lang="en-US" sz="3400" spc="-1" strike="noStrike">
                <a:solidFill>
                  <a:srgbClr val="ffffff"/>
                </a:solidFill>
                <a:latin typeface="Calibri"/>
              </a:rPr>
              <a:t>A Multi-Transcript, Self-Consistent,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Calibri"/>
              </a:rPr>
              <a:t>Audio-Grounded Pipeline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548640" y="4434840"/>
            <a:ext cx="1097244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000" spc="-1" strike="noStrike">
                <a:solidFill>
                  <a:srgbClr val="555f6b"/>
                </a:solidFill>
                <a:latin typeface="Calibri"/>
              </a:rPr>
              <a:t>Caller-info extraction from German phone-call recordings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TextBox 6"/>
          <p:cNvSpPr/>
          <p:nvPr/>
        </p:nvSpPr>
        <p:spPr>
          <a:xfrm>
            <a:off x="548640" y="4892040"/>
            <a:ext cx="1097244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22b35"/>
                </a:solidFill>
                <a:latin typeface="Calibri"/>
              </a:rPr>
              <a:t>Prepared by Melih Unsal for JUPUS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Box 7"/>
          <p:cNvSpPr/>
          <p:nvPr/>
        </p:nvSpPr>
        <p:spPr>
          <a:xfrm>
            <a:off x="548640" y="5349240"/>
            <a:ext cx="1097244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555f6b"/>
                </a:solidFill>
                <a:latin typeface="Calibri"/>
              </a:rPr>
              <a:t>2026-05-03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TextBox 8"/>
          <p:cNvSpPr/>
          <p:nvPr/>
        </p:nvSpPr>
        <p:spPr>
          <a:xfrm>
            <a:off x="548640" y="6492240"/>
            <a:ext cx="73148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TextBox 9"/>
          <p:cNvSpPr/>
          <p:nvPr/>
        </p:nvSpPr>
        <p:spPr>
          <a:xfrm>
            <a:off x="10789920" y="6492240"/>
            <a:ext cx="12798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1 / 19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afb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" name="TextBox 2"/>
          <p:cNvSpPr/>
          <p:nvPr/>
        </p:nvSpPr>
        <p:spPr>
          <a:xfrm>
            <a:off x="548640" y="320040"/>
            <a:ext cx="109724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b3d91"/>
                </a:solidFill>
                <a:latin typeface="Calibri"/>
              </a:rPr>
              <a:t>THE TASK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Box 3"/>
          <p:cNvSpPr/>
          <p:nvPr/>
        </p:nvSpPr>
        <p:spPr>
          <a:xfrm>
            <a:off x="548640" y="640080"/>
            <a:ext cx="1097244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222b35"/>
                </a:solidFill>
                <a:latin typeface="Calibri"/>
              </a:rPr>
              <a:t>What I had to extract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Rectangle 4"/>
          <p:cNvSpPr/>
          <p:nvPr/>
        </p:nvSpPr>
        <p:spPr>
          <a:xfrm>
            <a:off x="548640" y="1307520"/>
            <a:ext cx="2285640" cy="25200"/>
          </a:xfrm>
          <a:prstGeom prst="rect">
            <a:avLst/>
          </a:prstGeom>
          <a:solidFill>
            <a:srgbClr val="0b3d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0" name="TextBox 5"/>
          <p:cNvSpPr/>
          <p:nvPr/>
        </p:nvSpPr>
        <p:spPr>
          <a:xfrm>
            <a:off x="548640" y="1645920"/>
            <a:ext cx="10972440" cy="14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20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2000" spc="-1" strike="noStrike">
                <a:solidFill>
                  <a:srgbClr val="222b35"/>
                </a:solidFill>
                <a:latin typeface="Calibri"/>
              </a:rPr>
              <a:t>Input: 30 German phone-call recordings (16-bit WAV)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20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2000" spc="-1" strike="noStrike">
                <a:solidFill>
                  <a:srgbClr val="222b35"/>
                </a:solidFill>
                <a:latin typeface="Calibri"/>
              </a:rPr>
              <a:t>Output per call: first name, last name, email, phone number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20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2000" spc="-1" strike="noStrike">
                <a:solidFill>
                  <a:srgbClr val="222b35"/>
                </a:solidFill>
                <a:latin typeface="Calibri"/>
              </a:rPr>
              <a:t>Phone must be E.164; email lower-cased; names NFC-normalised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20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2000" spc="-1" strike="noStrike">
                <a:solidFill>
                  <a:srgbClr val="222b35"/>
                </a:solidFill>
                <a:latin typeface="Calibri"/>
              </a:rPr>
              <a:t>Ground truth allows multiple acceptable spellings per field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TextBox 6"/>
          <p:cNvSpPr/>
          <p:nvPr/>
        </p:nvSpPr>
        <p:spPr>
          <a:xfrm>
            <a:off x="548640" y="6492240"/>
            <a:ext cx="73148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TextBox 7"/>
          <p:cNvSpPr/>
          <p:nvPr/>
        </p:nvSpPr>
        <p:spPr>
          <a:xfrm>
            <a:off x="10789920" y="6492240"/>
            <a:ext cx="12798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2 / 19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afb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4" name="TextBox 2"/>
          <p:cNvSpPr/>
          <p:nvPr/>
        </p:nvSpPr>
        <p:spPr>
          <a:xfrm>
            <a:off x="548640" y="320040"/>
            <a:ext cx="109724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b3d91"/>
                </a:solidFill>
                <a:latin typeface="Calibri"/>
              </a:rPr>
              <a:t>WHY IT IS HARD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3"/>
          <p:cNvSpPr/>
          <p:nvPr/>
        </p:nvSpPr>
        <p:spPr>
          <a:xfrm>
            <a:off x="548640" y="640080"/>
            <a:ext cx="1097244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222b35"/>
                </a:solidFill>
                <a:latin typeface="Calibri"/>
              </a:rPr>
              <a:t>The dataset is acoustically and linguistically diverse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ectangle 4"/>
          <p:cNvSpPr/>
          <p:nvPr/>
        </p:nvSpPr>
        <p:spPr>
          <a:xfrm>
            <a:off x="548640" y="1307520"/>
            <a:ext cx="2285640" cy="25200"/>
          </a:xfrm>
          <a:prstGeom prst="rect">
            <a:avLst/>
          </a:prstGeom>
          <a:solidFill>
            <a:srgbClr val="0b3d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7" name="TextBox 5"/>
          <p:cNvSpPr/>
          <p:nvPr/>
        </p:nvSpPr>
        <p:spPr>
          <a:xfrm>
            <a:off x="548640" y="1645920"/>
            <a:ext cx="10972440" cy="195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Callers from 11 language traditions: German, French, Italian, Spanish, Brazilian, Swedish, Japanese, Polish, English, Arabic, Irish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Diacritics are mandatory (Garcia -&gt; Garcia, Lefevre -&gt; Lefevre)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Spelled-out emails: Punkt, Bindestrich, Unterstrich, 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Long digit sequences with stutters (e.g. ...12313)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German STT systems have no incentive to reproduce non-German orthography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TextBox 6"/>
          <p:cNvSpPr/>
          <p:nvPr/>
        </p:nvSpPr>
        <p:spPr>
          <a:xfrm>
            <a:off x="548640" y="6492240"/>
            <a:ext cx="73148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TextBox 7"/>
          <p:cNvSpPr/>
          <p:nvPr/>
        </p:nvSpPr>
        <p:spPr>
          <a:xfrm>
            <a:off x="10789920" y="6492240"/>
            <a:ext cx="12798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3 / 19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afb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1" name="TextBox 2"/>
          <p:cNvSpPr/>
          <p:nvPr/>
        </p:nvSpPr>
        <p:spPr>
          <a:xfrm>
            <a:off x="548640" y="320040"/>
            <a:ext cx="109724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b3d91"/>
                </a:solidFill>
                <a:latin typeface="Calibri"/>
              </a:rPr>
              <a:t>ARCHITECTURE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Box 3"/>
          <p:cNvSpPr/>
          <p:nvPr/>
        </p:nvSpPr>
        <p:spPr>
          <a:xfrm>
            <a:off x="548640" y="640080"/>
            <a:ext cx="1097244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222b35"/>
                </a:solidFill>
                <a:latin typeface="Calibri"/>
              </a:rPr>
              <a:t>Full pipeline at a glance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Rectangle 4"/>
          <p:cNvSpPr/>
          <p:nvPr/>
        </p:nvSpPr>
        <p:spPr>
          <a:xfrm>
            <a:off x="548640" y="1307520"/>
            <a:ext cx="2285640" cy="25200"/>
          </a:xfrm>
          <a:prstGeom prst="rect">
            <a:avLst/>
          </a:prstGeom>
          <a:solidFill>
            <a:srgbClr val="0b3d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4" name="Picture 5" descr="pipeline_only.png"/>
          <p:cNvPicPr/>
          <p:nvPr/>
        </p:nvPicPr>
        <p:blipFill>
          <a:blip r:embed="rId1"/>
          <a:stretch/>
        </p:blipFill>
        <p:spPr>
          <a:xfrm>
            <a:off x="4965120" y="100440"/>
            <a:ext cx="6921720" cy="6504480"/>
          </a:xfrm>
          <a:prstGeom prst="rect">
            <a:avLst/>
          </a:prstGeom>
          <a:ln w="0">
            <a:noFill/>
          </a:ln>
        </p:spPr>
      </p:pic>
      <p:sp>
        <p:nvSpPr>
          <p:cNvPr id="95" name="TextBox 6"/>
          <p:cNvSpPr/>
          <p:nvPr/>
        </p:nvSpPr>
        <p:spPr>
          <a:xfrm>
            <a:off x="4800600" y="6617880"/>
            <a:ext cx="109724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Solid arrows = unconditional flow.   Dashed arrows = lazy paths (Whisper, targeted re-listen).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TextBox 7"/>
          <p:cNvSpPr/>
          <p:nvPr/>
        </p:nvSpPr>
        <p:spPr>
          <a:xfrm>
            <a:off x="548640" y="6492240"/>
            <a:ext cx="73148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Box 8"/>
          <p:cNvSpPr/>
          <p:nvPr/>
        </p:nvSpPr>
        <p:spPr>
          <a:xfrm>
            <a:off x="10789920" y="6492240"/>
            <a:ext cx="12798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4 / 19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afb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9" name="TextBox 2"/>
          <p:cNvSpPr/>
          <p:nvPr/>
        </p:nvSpPr>
        <p:spPr>
          <a:xfrm>
            <a:off x="548640" y="320040"/>
            <a:ext cx="109724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b3d91"/>
                </a:solidFill>
                <a:latin typeface="Calibri"/>
              </a:rPr>
              <a:t>LAYER 1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Box 3"/>
          <p:cNvSpPr/>
          <p:nvPr/>
        </p:nvSpPr>
        <p:spPr>
          <a:xfrm>
            <a:off x="548640" y="640080"/>
            <a:ext cx="1097244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222b35"/>
                </a:solidFill>
                <a:latin typeface="Calibri"/>
              </a:rPr>
              <a:t>Two STT models in parallel = uncorrelated errors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Rectangle 4"/>
          <p:cNvSpPr/>
          <p:nvPr/>
        </p:nvSpPr>
        <p:spPr>
          <a:xfrm>
            <a:off x="548640" y="1307520"/>
            <a:ext cx="2285640" cy="25200"/>
          </a:xfrm>
          <a:prstGeom prst="rect">
            <a:avLst/>
          </a:prstGeom>
          <a:solidFill>
            <a:srgbClr val="0b3d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" name="TextBox 5"/>
          <p:cNvSpPr/>
          <p:nvPr/>
        </p:nvSpPr>
        <p:spPr>
          <a:xfrm>
            <a:off x="548640" y="1645920"/>
            <a:ext cx="10972440" cy="132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Voxtral-Mini-3B-2507 (local, bf16): strong on letters, no timestamps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ElevenLabs Scribe v2 (API): word timestamps + keyterms biasing (Punkt, Bindestrich, gmail.com, ...)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Errors correlate within one model, uncorrelate across models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Whisper-large-v3-turbo generates the timestamps lazily (Layer 1c)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TextBox 6"/>
          <p:cNvSpPr/>
          <p:nvPr/>
        </p:nvSpPr>
        <p:spPr>
          <a:xfrm>
            <a:off x="5486400" y="6400800"/>
            <a:ext cx="5860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555f6b"/>
                </a:solidFill>
                <a:latin typeface="Calibri"/>
              </a:rPr>
              <a:t>Benchmark Link: </a:t>
            </a:r>
            <a:r>
              <a:rPr b="0" i="1" lang="en-US" sz="1100" spc="-1" strike="noStrike">
                <a:solidFill>
                  <a:srgbClr val="0b3d91"/>
                </a:solidFill>
                <a:latin typeface="Calibri"/>
              </a:rPr>
              <a:t>https://huggingface.co/spaces/hf-audio/open_asr_leaderboard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TextBox 7"/>
          <p:cNvSpPr/>
          <p:nvPr/>
        </p:nvSpPr>
        <p:spPr>
          <a:xfrm>
            <a:off x="548640" y="6492240"/>
            <a:ext cx="73148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TextBox 8"/>
          <p:cNvSpPr/>
          <p:nvPr/>
        </p:nvSpPr>
        <p:spPr>
          <a:xfrm>
            <a:off x="10789920" y="6492240"/>
            <a:ext cx="12798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5 / 19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afb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" name="TextBox 2"/>
          <p:cNvSpPr/>
          <p:nvPr/>
        </p:nvSpPr>
        <p:spPr>
          <a:xfrm>
            <a:off x="548640" y="320040"/>
            <a:ext cx="109724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b3d91"/>
                </a:solidFill>
                <a:latin typeface="Calibri"/>
              </a:rPr>
              <a:t>LAYER 2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Box 3"/>
          <p:cNvSpPr/>
          <p:nvPr/>
        </p:nvSpPr>
        <p:spPr>
          <a:xfrm>
            <a:off x="548640" y="640080"/>
            <a:ext cx="1097244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222b35"/>
                </a:solidFill>
                <a:latin typeface="Calibri"/>
              </a:rPr>
              <a:t>Country detection drives orthography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Rectangle 4"/>
          <p:cNvSpPr/>
          <p:nvPr/>
        </p:nvSpPr>
        <p:spPr>
          <a:xfrm>
            <a:off x="548640" y="1307520"/>
            <a:ext cx="2285640" cy="25200"/>
          </a:xfrm>
          <a:prstGeom prst="rect">
            <a:avLst/>
          </a:prstGeom>
          <a:solidFill>
            <a:srgbClr val="0b3d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0" name="TextBox 5"/>
          <p:cNvSpPr/>
          <p:nvPr/>
        </p:nvSpPr>
        <p:spPr>
          <a:xfrm>
            <a:off x="548640" y="1645920"/>
            <a:ext cx="10972440" cy="167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Single LLM call decides the caller's linguistic-origin country once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Signals (priority order): email TLD/domain, name pattern, phone code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Hard rule: USA is forbidden as a default for ambiguous names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Output is a single country string used by every later layer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Removes a class of failure where 5 LLM votes pick 3 different countries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6"/>
          <p:cNvSpPr/>
          <p:nvPr/>
        </p:nvSpPr>
        <p:spPr>
          <a:xfrm>
            <a:off x="548640" y="6492240"/>
            <a:ext cx="73148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TextBox 7"/>
          <p:cNvSpPr/>
          <p:nvPr/>
        </p:nvSpPr>
        <p:spPr>
          <a:xfrm>
            <a:off x="10789920" y="6492240"/>
            <a:ext cx="12798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6 / 19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afb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4" name="TextBox 2"/>
          <p:cNvSpPr/>
          <p:nvPr/>
        </p:nvSpPr>
        <p:spPr>
          <a:xfrm>
            <a:off x="548640" y="320040"/>
            <a:ext cx="109724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b3d91"/>
                </a:solidFill>
                <a:latin typeface="Calibri"/>
              </a:rPr>
              <a:t>LAYER 3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Box 3"/>
          <p:cNvSpPr/>
          <p:nvPr/>
        </p:nvSpPr>
        <p:spPr>
          <a:xfrm>
            <a:off x="548640" y="640080"/>
            <a:ext cx="1097244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222b35"/>
                </a:solidFill>
                <a:latin typeface="Calibri"/>
              </a:rPr>
              <a:t>Candidate-1: self-consistent transcript-LLM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Rectangle 4"/>
          <p:cNvSpPr/>
          <p:nvPr/>
        </p:nvSpPr>
        <p:spPr>
          <a:xfrm>
            <a:off x="548640" y="1307520"/>
            <a:ext cx="2285640" cy="25200"/>
          </a:xfrm>
          <a:prstGeom prst="rect">
            <a:avLst/>
          </a:prstGeom>
          <a:solidFill>
            <a:srgbClr val="0b3d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7" name="TextBox 5"/>
          <p:cNvSpPr/>
          <p:nvPr/>
        </p:nvSpPr>
        <p:spPr>
          <a:xfrm>
            <a:off x="548640" y="1645920"/>
            <a:ext cx="10972440" cy="167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For each transcript, run gpt-5.4-mini at temperature 0.7, five times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Per-key majority vote -&gt; one candidate per transcript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Prompt embeds country-specific orthography, name&lt;-&gt;email rules, phone prefix rules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Self-consistency averages out single-shot LLM noise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Number of candidate-1s = number of STT models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TextBox 6"/>
          <p:cNvSpPr/>
          <p:nvPr/>
        </p:nvSpPr>
        <p:spPr>
          <a:xfrm>
            <a:off x="548640" y="6492240"/>
            <a:ext cx="73148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Box 7"/>
          <p:cNvSpPr/>
          <p:nvPr/>
        </p:nvSpPr>
        <p:spPr>
          <a:xfrm>
            <a:off x="10789920" y="6492240"/>
            <a:ext cx="12798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7 / 19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afb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1" name="TextBox 2"/>
          <p:cNvSpPr/>
          <p:nvPr/>
        </p:nvSpPr>
        <p:spPr>
          <a:xfrm>
            <a:off x="548640" y="320040"/>
            <a:ext cx="109724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b3d91"/>
                </a:solidFill>
                <a:latin typeface="Calibri"/>
              </a:rPr>
              <a:t>LAYER 4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TextBox 3"/>
          <p:cNvSpPr/>
          <p:nvPr/>
        </p:nvSpPr>
        <p:spPr>
          <a:xfrm>
            <a:off x="548640" y="640080"/>
            <a:ext cx="1097244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222b35"/>
                </a:solidFill>
                <a:latin typeface="Calibri"/>
              </a:rPr>
              <a:t>Candidate-2: SpeechLM directly on the audio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Rectangle 4"/>
          <p:cNvSpPr/>
          <p:nvPr/>
        </p:nvSpPr>
        <p:spPr>
          <a:xfrm>
            <a:off x="548640" y="1307520"/>
            <a:ext cx="2285640" cy="25200"/>
          </a:xfrm>
          <a:prstGeom prst="rect">
            <a:avLst/>
          </a:prstGeom>
          <a:solidFill>
            <a:srgbClr val="0b3d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4" name="TextBox 5"/>
          <p:cNvSpPr/>
          <p:nvPr/>
        </p:nvSpPr>
        <p:spPr>
          <a:xfrm>
            <a:off x="548640" y="1645920"/>
            <a:ext cx="10972440" cy="167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Voxtral consumes the WAV plus a single text instruction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Three runs at temperature 0.01 (near-greedy), majority-voted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Strong on literal letters and digits the caller spoke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Weak on diacritics and country-aware orthography (audio carries no orthographic signal)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Different error profile from candidate-1 - this is the point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TextBox 6"/>
          <p:cNvSpPr/>
          <p:nvPr/>
        </p:nvSpPr>
        <p:spPr>
          <a:xfrm>
            <a:off x="548640" y="6492240"/>
            <a:ext cx="73148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Box 7"/>
          <p:cNvSpPr/>
          <p:nvPr/>
        </p:nvSpPr>
        <p:spPr>
          <a:xfrm>
            <a:off x="10789920" y="6492240"/>
            <a:ext cx="12798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8 / 19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afb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8" name="TextBox 2"/>
          <p:cNvSpPr/>
          <p:nvPr/>
        </p:nvSpPr>
        <p:spPr>
          <a:xfrm>
            <a:off x="548640" y="320040"/>
            <a:ext cx="109724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b3d91"/>
                </a:solidFill>
                <a:latin typeface="Calibri"/>
              </a:rPr>
              <a:t>LAYER 4.5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TextBox 3"/>
          <p:cNvSpPr/>
          <p:nvPr/>
        </p:nvSpPr>
        <p:spPr>
          <a:xfrm>
            <a:off x="548640" y="640080"/>
            <a:ext cx="1097244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222b35"/>
                </a:solidFill>
                <a:latin typeface="Calibri"/>
              </a:rPr>
              <a:t>Targeted re-listen: rewind the parts you are unsure about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Rectangle 4"/>
          <p:cNvSpPr/>
          <p:nvPr/>
        </p:nvSpPr>
        <p:spPr>
          <a:xfrm>
            <a:off x="548640" y="1307520"/>
            <a:ext cx="2285640" cy="25200"/>
          </a:xfrm>
          <a:prstGeom prst="rect">
            <a:avLst/>
          </a:prstGeom>
          <a:solidFill>
            <a:srgbClr val="0b3d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1" name="TextBox 5"/>
          <p:cNvSpPr/>
          <p:nvPr/>
        </p:nvSpPr>
        <p:spPr>
          <a:xfrm>
            <a:off x="548640" y="1645920"/>
            <a:ext cx="10972440" cy="20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Gate: opens only if whole-record candidates disagree on email or phone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Word timestamps come from Scribe or from Whisper (Layer 1c)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Segment detection looks for Punkt/Bindestrich/at + domain hints, or digit-words and 'plus'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Crop the audio to the detected window plus 3 seconds context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Re-prompt the SpeechLM with a single-field prompt, three times, majority-voted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Most records skip the layer entirely - it is selective by design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TextBox 6"/>
          <p:cNvSpPr/>
          <p:nvPr/>
        </p:nvSpPr>
        <p:spPr>
          <a:xfrm>
            <a:off x="548640" y="6492240"/>
            <a:ext cx="73148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TextBox 7"/>
          <p:cNvSpPr/>
          <p:nvPr/>
        </p:nvSpPr>
        <p:spPr>
          <a:xfrm>
            <a:off x="10789920" y="6492240"/>
            <a:ext cx="12798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9 / 19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afb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5" name="TextBox 2"/>
          <p:cNvSpPr/>
          <p:nvPr/>
        </p:nvSpPr>
        <p:spPr>
          <a:xfrm>
            <a:off x="548640" y="320040"/>
            <a:ext cx="109724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b3d91"/>
                </a:solidFill>
                <a:latin typeface="Calibri"/>
              </a:rPr>
              <a:t>LAYER 5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TextBox 3"/>
          <p:cNvSpPr/>
          <p:nvPr/>
        </p:nvSpPr>
        <p:spPr>
          <a:xfrm>
            <a:off x="548640" y="640080"/>
            <a:ext cx="1097244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222b35"/>
                </a:solidFill>
                <a:latin typeface="Calibri"/>
              </a:rPr>
              <a:t>Reconciler + 4 deterministic safety nets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Rectangle 4"/>
          <p:cNvSpPr/>
          <p:nvPr/>
        </p:nvSpPr>
        <p:spPr>
          <a:xfrm>
            <a:off x="548640" y="1307520"/>
            <a:ext cx="2285640" cy="25200"/>
          </a:xfrm>
          <a:prstGeom prst="rect">
            <a:avLst/>
          </a:prstGeom>
          <a:solidFill>
            <a:srgbClr val="0b3d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8" name="TextBox 5"/>
          <p:cNvSpPr/>
          <p:nvPr/>
        </p:nvSpPr>
        <p:spPr>
          <a:xfrm>
            <a:off x="548640" y="1554480"/>
            <a:ext cx="10972440" cy="19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7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700" spc="-1" strike="noStrike">
                <a:solidFill>
                  <a:srgbClr val="222b35"/>
                </a:solidFill>
                <a:latin typeface="Calibri"/>
              </a:rPr>
              <a:t>LLM reconciler (gpt-5.4-mini, T=0) sees: transcripts, country, every candidate-1, candidate-2, targeted re-listen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7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700" spc="-1" strike="noStrike">
                <a:solidFill>
                  <a:srgbClr val="222b35"/>
                </a:solidFill>
                <a:latin typeface="Calibri"/>
              </a:rPr>
              <a:t>Net 1 - drop targeted email/phone if it is structurally invalid (no @, won't parse)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7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700" spc="-1" strike="noStrike">
                <a:solidFill>
                  <a:srgbClr val="222b35"/>
                </a:solidFill>
                <a:latin typeface="Calibri"/>
              </a:rPr>
              <a:t>Net 2 - if every whole-record candidate agrees, that value wins regardless of the LLM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7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700" spc="-1" strike="noStrike">
                <a:solidFill>
                  <a:srgbClr val="222b35"/>
                </a:solidFill>
                <a:latin typeface="Calibri"/>
              </a:rPr>
              <a:t>Net 3 - strict majority overrides the LLM (e.g. 2 of 3 candidates agree on the right phone)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7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700" spc="-1" strike="noStrike">
                <a:solidFill>
                  <a:srgbClr val="222b35"/>
                </a:solidFill>
                <a:latin typeface="Calibri"/>
              </a:rPr>
              <a:t>Net 4 - email &lt;-&gt; name alignment using ASCII-folded edit distance (fixes Lefevre/Lefebvre/Le Fevre)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7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700" spc="-1" strike="noStrike">
                <a:solidFill>
                  <a:srgbClr val="222b35"/>
                </a:solidFill>
                <a:latin typeface="Calibri"/>
              </a:rPr>
              <a:t>Each net catches a class of obvious cases the LLM might miss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TextBox 6"/>
          <p:cNvSpPr/>
          <p:nvPr/>
        </p:nvSpPr>
        <p:spPr>
          <a:xfrm>
            <a:off x="548640" y="6492240"/>
            <a:ext cx="73148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TextBox 7"/>
          <p:cNvSpPr/>
          <p:nvPr/>
        </p:nvSpPr>
        <p:spPr>
          <a:xfrm>
            <a:off x="10789920" y="6492240"/>
            <a:ext cx="12798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10 / 19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afb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2" name="TextBox 2"/>
          <p:cNvSpPr/>
          <p:nvPr/>
        </p:nvSpPr>
        <p:spPr>
          <a:xfrm>
            <a:off x="548640" y="320040"/>
            <a:ext cx="109724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b3d91"/>
                </a:solidFill>
                <a:latin typeface="Calibri"/>
              </a:rPr>
              <a:t>LAYER 6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TextBox 3"/>
          <p:cNvSpPr/>
          <p:nvPr/>
        </p:nvSpPr>
        <p:spPr>
          <a:xfrm>
            <a:off x="548640" y="640080"/>
            <a:ext cx="1097244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222b35"/>
                </a:solidFill>
                <a:latin typeface="Calibri"/>
              </a:rPr>
              <a:t>Schema validation and normalisation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Rectangle 4"/>
          <p:cNvSpPr/>
          <p:nvPr/>
        </p:nvSpPr>
        <p:spPr>
          <a:xfrm>
            <a:off x="548640" y="1307520"/>
            <a:ext cx="2285640" cy="25200"/>
          </a:xfrm>
          <a:prstGeom prst="rect">
            <a:avLst/>
          </a:prstGeom>
          <a:solidFill>
            <a:srgbClr val="0b3d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" name="TextBox 5"/>
          <p:cNvSpPr/>
          <p:nvPr/>
        </p:nvSpPr>
        <p:spPr>
          <a:xfrm>
            <a:off x="548640" y="1645920"/>
            <a:ext cx="10972440" cy="167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Pydantic CallerInfo model is the single normalisation point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Names: NFC normalised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Emails: lower-cased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Phone numbers: parsed by phonenumbers, re-emitted in E.164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Same validators.py used by the evaluator -&gt; formatting can never lose points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TextBox 6"/>
          <p:cNvSpPr/>
          <p:nvPr/>
        </p:nvSpPr>
        <p:spPr>
          <a:xfrm>
            <a:off x="548640" y="6492240"/>
            <a:ext cx="73148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TextBox 7"/>
          <p:cNvSpPr/>
          <p:nvPr/>
        </p:nvSpPr>
        <p:spPr>
          <a:xfrm>
            <a:off x="10789920" y="6492240"/>
            <a:ext cx="12798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11 / 19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afb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" name="TextBox 2"/>
          <p:cNvSpPr/>
          <p:nvPr/>
        </p:nvSpPr>
        <p:spPr>
          <a:xfrm>
            <a:off x="548640" y="320040"/>
            <a:ext cx="109724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b3d91"/>
                </a:solidFill>
                <a:latin typeface="Calibri"/>
              </a:rPr>
              <a:t>ABLATION TOOLING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Box 3"/>
          <p:cNvSpPr/>
          <p:nvPr/>
        </p:nvSpPr>
        <p:spPr>
          <a:xfrm>
            <a:off x="548640" y="640080"/>
            <a:ext cx="1097244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222b35"/>
                </a:solidFill>
                <a:latin typeface="Calibri"/>
              </a:rPr>
              <a:t>CLI harness exposing every config knob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Rectangle 4"/>
          <p:cNvSpPr/>
          <p:nvPr/>
        </p:nvSpPr>
        <p:spPr>
          <a:xfrm>
            <a:off x="548640" y="1307520"/>
            <a:ext cx="2285640" cy="25200"/>
          </a:xfrm>
          <a:prstGeom prst="rect">
            <a:avLst/>
          </a:prstGeom>
          <a:solidFill>
            <a:srgbClr val="0b3d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2" name="TextBox 5"/>
          <p:cNvSpPr/>
          <p:nvPr/>
        </p:nvSpPr>
        <p:spPr>
          <a:xfrm>
            <a:off x="548640" y="1645920"/>
            <a:ext cx="10972440" cy="97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study/cli.py mutates src.config before main.py is imported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Every relevant constant in src/config.py becomes a flag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Tagged reports go to study/results/ for aggregation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TextBox 6"/>
          <p:cNvSpPr/>
          <p:nvPr/>
        </p:nvSpPr>
        <p:spPr>
          <a:xfrm>
            <a:off x="548640" y="3200400"/>
            <a:ext cx="10972440" cy="13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600" spc="-1" strike="noStrike">
                <a:solidFill>
                  <a:srgbClr val="222b35"/>
                </a:solidFill>
                <a:latin typeface="Consolas"/>
              </a:rPr>
              <a:t>python -m study.cli \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600" spc="-1" strike="noStrike">
                <a:solidFill>
                  <a:srgbClr val="222b35"/>
                </a:solidFill>
                <a:latin typeface="Consolas"/>
              </a:rPr>
              <a:t>    </a:t>
            </a:r>
            <a:r>
              <a:rPr b="0" lang="en-US" sz="1600" spc="-1" strike="noStrike">
                <a:solidFill>
                  <a:srgbClr val="222b35"/>
                </a:solidFill>
                <a:latin typeface="Consolas"/>
              </a:rPr>
              <a:t>--transcription elevenlabs:scribe_v2 \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600" spc="-1" strike="noStrike">
                <a:solidFill>
                  <a:srgbClr val="222b35"/>
                </a:solidFill>
                <a:latin typeface="Consolas"/>
              </a:rPr>
              <a:t>    </a:t>
            </a:r>
            <a:r>
              <a:rPr b="0" lang="en-US" sz="1600" spc="-1" strike="noStrike">
                <a:solidFill>
                  <a:srgbClr val="222b35"/>
                </a:solidFill>
                <a:latin typeface="Consolas"/>
              </a:rPr>
              <a:t>--instruct "" --timestamp "" \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600" spc="-1" strike="noStrike">
                <a:solidFill>
                  <a:srgbClr val="222b35"/>
                </a:solidFill>
                <a:latin typeface="Consolas"/>
              </a:rPr>
              <a:t>    </a:t>
            </a:r>
            <a:r>
              <a:rPr b="0" lang="en-US" sz="1600" spc="-1" strike="noStrike">
                <a:solidFill>
                  <a:srgbClr val="222b35"/>
                </a:solidFill>
                <a:latin typeface="Consolas"/>
              </a:rPr>
              <a:t>--no-targeted --no-auto-resume \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222b35"/>
                </a:solidFill>
                <a:latin typeface="Consolas"/>
              </a:rPr>
              <a:t>    </a:t>
            </a:r>
            <a:r>
              <a:rPr b="0" lang="en-US" sz="1600" spc="-1" strike="noStrike">
                <a:solidFill>
                  <a:srgbClr val="222b35"/>
                </a:solidFill>
                <a:latin typeface="Consolas"/>
              </a:rPr>
              <a:t>--tag scribe_only_no_audiollm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TextBox 7"/>
          <p:cNvSpPr/>
          <p:nvPr/>
        </p:nvSpPr>
        <p:spPr>
          <a:xfrm>
            <a:off x="548640" y="6492240"/>
            <a:ext cx="73148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TextBox 8"/>
          <p:cNvSpPr/>
          <p:nvPr/>
        </p:nvSpPr>
        <p:spPr>
          <a:xfrm>
            <a:off x="10789920" y="6492240"/>
            <a:ext cx="12798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12 / 19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afb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" name="TextBox 2"/>
          <p:cNvSpPr/>
          <p:nvPr/>
        </p:nvSpPr>
        <p:spPr>
          <a:xfrm>
            <a:off x="548640" y="320040"/>
            <a:ext cx="109724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b3d91"/>
                </a:solidFill>
                <a:latin typeface="Calibri"/>
              </a:rPr>
              <a:t>RESULTS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Box 3"/>
          <p:cNvSpPr/>
          <p:nvPr/>
        </p:nvSpPr>
        <p:spPr>
          <a:xfrm>
            <a:off x="548640" y="640080"/>
            <a:ext cx="1097244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222b35"/>
                </a:solidFill>
                <a:latin typeface="Calibri"/>
              </a:rPr>
              <a:t>Headline accuracy across configurations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Rectangle 4"/>
          <p:cNvSpPr/>
          <p:nvPr/>
        </p:nvSpPr>
        <p:spPr>
          <a:xfrm>
            <a:off x="548640" y="1307520"/>
            <a:ext cx="2285640" cy="25200"/>
          </a:xfrm>
          <a:prstGeom prst="rect">
            <a:avLst/>
          </a:prstGeom>
          <a:solidFill>
            <a:srgbClr val="0b3d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160" name="Table 5"/>
          <p:cNvGraphicFramePr/>
          <p:nvPr/>
        </p:nvGraphicFramePr>
        <p:xfrm>
          <a:off x="548640" y="1554480"/>
          <a:ext cx="10606680" cy="4205880"/>
        </p:xfrm>
        <a:graphic>
          <a:graphicData uri="http://schemas.openxmlformats.org/drawingml/2006/table">
            <a:tbl>
              <a:tblPr/>
              <a:tblGrid>
                <a:gridCol w="6035040"/>
                <a:gridCol w="731520"/>
                <a:gridCol w="1280160"/>
                <a:gridCol w="1280160"/>
                <a:gridCol w="1280160"/>
              </a:tblGrid>
              <a:tr h="5256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Configuration</a:t>
                      </a:r>
                      <a:endParaRPr b="0" lang="en-US" sz="15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b3d9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  <a:endParaRPr b="0" lang="en-US" sz="15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b3d9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Mean</a:t>
                      </a:r>
                      <a:endParaRPr b="0" lang="en-US" sz="15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b3d9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Std</a:t>
                      </a:r>
                      <a:endParaRPr b="0" lang="en-US" sz="15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b3d9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Best</a:t>
                      </a:r>
                      <a:endParaRPr b="0" lang="en-US" sz="15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b3d91"/>
                    </a:solidFill>
                  </a:tcPr>
                </a:tc>
              </a:tr>
              <a:tr h="5256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Voxtral + Scribe  |  full pipeline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2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26.5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2.5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29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4fa"/>
                    </a:solidFill>
                  </a:tcPr>
                </a:tc>
              </a:tr>
              <a:tr h="5256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Voxtral  |  +targeted, no Whisper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1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28.0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-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28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56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Voxtral  |  +targeted, +Whisper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2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26.5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0.5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27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4fa"/>
                    </a:solidFill>
                  </a:tcPr>
                </a:tc>
              </a:tr>
              <a:tr h="5256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Voxtral  |  no targeted (NEW)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1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26.0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-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26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56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Scribe  |  no audio LLM, no targeted (NEW)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1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26.0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-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26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4fa"/>
                    </a:solidFill>
                  </a:tcPr>
                </a:tc>
              </a:tr>
              <a:tr h="5256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Scribe  |  +targeted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1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26.0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-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26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56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Scribe  |  no targeted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2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25.0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0.0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222b35"/>
                          </a:solidFill>
                          <a:latin typeface="Calibri"/>
                        </a:rPr>
                        <a:t>25</a:t>
                      </a:r>
                      <a:endParaRPr b="0" lang="en-US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4fa"/>
                    </a:solidFill>
                  </a:tcPr>
                </a:tc>
              </a:tr>
            </a:tbl>
          </a:graphicData>
        </a:graphic>
      </p:graphicFrame>
      <p:sp>
        <p:nvSpPr>
          <p:cNvPr id="161" name="TextBox 6"/>
          <p:cNvSpPr/>
          <p:nvPr/>
        </p:nvSpPr>
        <p:spPr>
          <a:xfrm>
            <a:off x="548640" y="6035040"/>
            <a:ext cx="1097244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c62828"/>
                </a:solidFill>
                <a:latin typeface="Calibri"/>
              </a:rPr>
              <a:t>Best run = 29 / 30 (dual STT + audio LLM + targeted + Whisper)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Box 7"/>
          <p:cNvSpPr/>
          <p:nvPr/>
        </p:nvSpPr>
        <p:spPr>
          <a:xfrm>
            <a:off x="548640" y="6492240"/>
            <a:ext cx="73148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8"/>
          <p:cNvSpPr/>
          <p:nvPr/>
        </p:nvSpPr>
        <p:spPr>
          <a:xfrm>
            <a:off x="10789920" y="6492240"/>
            <a:ext cx="12798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13 / 19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afb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5" name="TextBox 2"/>
          <p:cNvSpPr/>
          <p:nvPr/>
        </p:nvSpPr>
        <p:spPr>
          <a:xfrm>
            <a:off x="548640" y="320040"/>
            <a:ext cx="109724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b3d91"/>
                </a:solidFill>
                <a:latin typeface="Calibri"/>
              </a:rPr>
              <a:t>RESULTS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TextBox 3"/>
          <p:cNvSpPr/>
          <p:nvPr/>
        </p:nvSpPr>
        <p:spPr>
          <a:xfrm>
            <a:off x="548640" y="640080"/>
            <a:ext cx="1097244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222b35"/>
                </a:solidFill>
                <a:latin typeface="Calibri"/>
              </a:rPr>
              <a:t>Full-record matches per configuration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Rectangle 4"/>
          <p:cNvSpPr/>
          <p:nvPr/>
        </p:nvSpPr>
        <p:spPr>
          <a:xfrm>
            <a:off x="548640" y="1307520"/>
            <a:ext cx="2285640" cy="25200"/>
          </a:xfrm>
          <a:prstGeom prst="rect">
            <a:avLst/>
          </a:prstGeom>
          <a:solidFill>
            <a:srgbClr val="0b3d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8" name="Picture 5" descr="full_match_by_config.png"/>
          <p:cNvPicPr/>
          <p:nvPr/>
        </p:nvPicPr>
        <p:blipFill>
          <a:blip r:embed="rId1"/>
          <a:stretch/>
        </p:blipFill>
        <p:spPr>
          <a:xfrm>
            <a:off x="1188720" y="1463040"/>
            <a:ext cx="9783720" cy="5860440"/>
          </a:xfrm>
          <a:prstGeom prst="rect">
            <a:avLst/>
          </a:prstGeom>
          <a:ln w="0">
            <a:noFill/>
          </a:ln>
        </p:spPr>
      </p:pic>
      <p:sp>
        <p:nvSpPr>
          <p:cNvPr id="169" name="TextBox 6"/>
          <p:cNvSpPr/>
          <p:nvPr/>
        </p:nvSpPr>
        <p:spPr>
          <a:xfrm>
            <a:off x="548640" y="6492240"/>
            <a:ext cx="73148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Box 7"/>
          <p:cNvSpPr/>
          <p:nvPr/>
        </p:nvSpPr>
        <p:spPr>
          <a:xfrm>
            <a:off x="10789920" y="6492240"/>
            <a:ext cx="12798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14 / 19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afb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2" name="TextBox 2"/>
          <p:cNvSpPr/>
          <p:nvPr/>
        </p:nvSpPr>
        <p:spPr>
          <a:xfrm>
            <a:off x="548640" y="320040"/>
            <a:ext cx="109724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b3d91"/>
                </a:solidFill>
                <a:latin typeface="Calibri"/>
              </a:rPr>
              <a:t>RESULTS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TextBox 3"/>
          <p:cNvSpPr/>
          <p:nvPr/>
        </p:nvSpPr>
        <p:spPr>
          <a:xfrm>
            <a:off x="548640" y="640080"/>
            <a:ext cx="1097244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222b35"/>
                </a:solidFill>
                <a:latin typeface="Calibri"/>
              </a:rPr>
              <a:t>Per-key accuracy: most errors live in last name + email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Rectangle 4"/>
          <p:cNvSpPr/>
          <p:nvPr/>
        </p:nvSpPr>
        <p:spPr>
          <a:xfrm>
            <a:off x="548640" y="1307520"/>
            <a:ext cx="2285640" cy="25200"/>
          </a:xfrm>
          <a:prstGeom prst="rect">
            <a:avLst/>
          </a:prstGeom>
          <a:solidFill>
            <a:srgbClr val="0b3d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5" name="Picture 5" descr="per_key_accuracy.png"/>
          <p:cNvPicPr/>
          <p:nvPr/>
        </p:nvPicPr>
        <p:blipFill>
          <a:blip r:embed="rId1"/>
          <a:stretch/>
        </p:blipFill>
        <p:spPr>
          <a:xfrm>
            <a:off x="1188720" y="1463040"/>
            <a:ext cx="9783720" cy="5279760"/>
          </a:xfrm>
          <a:prstGeom prst="rect">
            <a:avLst/>
          </a:prstGeom>
          <a:ln w="0">
            <a:noFill/>
          </a:ln>
        </p:spPr>
      </p:pic>
      <p:sp>
        <p:nvSpPr>
          <p:cNvPr id="176" name="TextBox 6"/>
          <p:cNvSpPr/>
          <p:nvPr/>
        </p:nvSpPr>
        <p:spPr>
          <a:xfrm>
            <a:off x="548640" y="6492240"/>
            <a:ext cx="73148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TextBox 7"/>
          <p:cNvSpPr/>
          <p:nvPr/>
        </p:nvSpPr>
        <p:spPr>
          <a:xfrm>
            <a:off x="10789920" y="6492240"/>
            <a:ext cx="12798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15 / 19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afb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9" name="TextBox 2"/>
          <p:cNvSpPr/>
          <p:nvPr/>
        </p:nvSpPr>
        <p:spPr>
          <a:xfrm>
            <a:off x="548640" y="320040"/>
            <a:ext cx="109724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b3d91"/>
                </a:solidFill>
                <a:latin typeface="Calibri"/>
              </a:rPr>
              <a:t>PERFORMANCE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TextBox 3"/>
          <p:cNvSpPr/>
          <p:nvPr/>
        </p:nvSpPr>
        <p:spPr>
          <a:xfrm>
            <a:off x="548640" y="640080"/>
            <a:ext cx="1097244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222b35"/>
                </a:solidFill>
                <a:latin typeface="Calibri"/>
              </a:rPr>
              <a:t>Per-stage wall-clock latency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Rectangle 4"/>
          <p:cNvSpPr/>
          <p:nvPr/>
        </p:nvSpPr>
        <p:spPr>
          <a:xfrm>
            <a:off x="548640" y="1307520"/>
            <a:ext cx="2285640" cy="25200"/>
          </a:xfrm>
          <a:prstGeom prst="rect">
            <a:avLst/>
          </a:prstGeom>
          <a:solidFill>
            <a:srgbClr val="0b3d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2" name="Picture 5" descr="timing_breakdown.png"/>
          <p:cNvPicPr/>
          <p:nvPr/>
        </p:nvPicPr>
        <p:blipFill>
          <a:blip r:embed="rId1"/>
          <a:stretch/>
        </p:blipFill>
        <p:spPr>
          <a:xfrm>
            <a:off x="1371600" y="1463040"/>
            <a:ext cx="9417960" cy="4881600"/>
          </a:xfrm>
          <a:prstGeom prst="rect">
            <a:avLst/>
          </a:prstGeom>
          <a:ln w="0">
            <a:noFill/>
          </a:ln>
        </p:spPr>
      </p:pic>
      <p:sp>
        <p:nvSpPr>
          <p:cNvPr id="183" name="TextBox 6"/>
          <p:cNvSpPr/>
          <p:nvPr/>
        </p:nvSpPr>
        <p:spPr>
          <a:xfrm>
            <a:off x="548640" y="6355080"/>
            <a:ext cx="109724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555f6b"/>
                </a:solidFill>
                <a:latin typeface="Calibri"/>
              </a:rPr>
              <a:t>Targeted re-listen is conditional - on most records the layer returns immediately.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TextBox 7"/>
          <p:cNvSpPr/>
          <p:nvPr/>
        </p:nvSpPr>
        <p:spPr>
          <a:xfrm>
            <a:off x="548640" y="6492240"/>
            <a:ext cx="73148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TextBox 8"/>
          <p:cNvSpPr/>
          <p:nvPr/>
        </p:nvSpPr>
        <p:spPr>
          <a:xfrm>
            <a:off x="10789920" y="6492240"/>
            <a:ext cx="12798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16 / 19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afb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" name="TextBox 2"/>
          <p:cNvSpPr/>
          <p:nvPr/>
        </p:nvSpPr>
        <p:spPr>
          <a:xfrm>
            <a:off x="548640" y="320040"/>
            <a:ext cx="109724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b3d91"/>
                </a:solidFill>
                <a:latin typeface="Calibri"/>
              </a:rPr>
              <a:t>BEHAVIOUR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TextBox 3"/>
          <p:cNvSpPr/>
          <p:nvPr/>
        </p:nvSpPr>
        <p:spPr>
          <a:xfrm>
            <a:off x="548640" y="640080"/>
            <a:ext cx="1097244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222b35"/>
                </a:solidFill>
                <a:latin typeface="Calibri"/>
              </a:rPr>
              <a:t>Agreement drives re-listen activity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Rectangle 4"/>
          <p:cNvSpPr/>
          <p:nvPr/>
        </p:nvSpPr>
        <p:spPr>
          <a:xfrm>
            <a:off x="548640" y="1307520"/>
            <a:ext cx="2285640" cy="25200"/>
          </a:xfrm>
          <a:prstGeom prst="rect">
            <a:avLst/>
          </a:prstGeom>
          <a:solidFill>
            <a:srgbClr val="0b3d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90" name="Picture 5" descr="agreement_distribution.png"/>
          <p:cNvPicPr/>
          <p:nvPr/>
        </p:nvPicPr>
        <p:blipFill>
          <a:blip r:embed="rId1"/>
          <a:stretch/>
        </p:blipFill>
        <p:spPr>
          <a:xfrm>
            <a:off x="365760" y="1554480"/>
            <a:ext cx="5760360" cy="3192840"/>
          </a:xfrm>
          <a:prstGeom prst="rect">
            <a:avLst/>
          </a:prstGeom>
          <a:ln w="0">
            <a:noFill/>
          </a:ln>
        </p:spPr>
      </p:pic>
      <p:pic>
        <p:nvPicPr>
          <p:cNvPr id="191" name="Picture 6" descr="targeted_mode_distribution.png"/>
          <p:cNvPicPr/>
          <p:nvPr/>
        </p:nvPicPr>
        <p:blipFill>
          <a:blip r:embed="rId2"/>
          <a:stretch/>
        </p:blipFill>
        <p:spPr>
          <a:xfrm>
            <a:off x="6126480" y="1554480"/>
            <a:ext cx="5760360" cy="3192840"/>
          </a:xfrm>
          <a:prstGeom prst="rect">
            <a:avLst/>
          </a:prstGeom>
          <a:ln w="0">
            <a:noFill/>
          </a:ln>
        </p:spPr>
      </p:pic>
      <p:sp>
        <p:nvSpPr>
          <p:cNvPr id="192" name="TextBox 7"/>
          <p:cNvSpPr/>
          <p:nvPr/>
        </p:nvSpPr>
        <p:spPr>
          <a:xfrm>
            <a:off x="548640" y="6126480"/>
            <a:ext cx="1097244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555f6b"/>
                </a:solidFill>
                <a:latin typeface="Calibri"/>
              </a:rPr>
              <a:t>Most records are unanimous on email and phone -&gt; the targeted re-listen is skipped on the majority of the dataset.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TextBox 8"/>
          <p:cNvSpPr/>
          <p:nvPr/>
        </p:nvSpPr>
        <p:spPr>
          <a:xfrm>
            <a:off x="548640" y="6492240"/>
            <a:ext cx="73148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TextBox 9"/>
          <p:cNvSpPr/>
          <p:nvPr/>
        </p:nvSpPr>
        <p:spPr>
          <a:xfrm>
            <a:off x="10789920" y="6492240"/>
            <a:ext cx="12798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17 / 19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afb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6" name="TextBox 2"/>
          <p:cNvSpPr/>
          <p:nvPr/>
        </p:nvSpPr>
        <p:spPr>
          <a:xfrm>
            <a:off x="548640" y="320040"/>
            <a:ext cx="109724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b3d91"/>
                </a:solidFill>
                <a:latin typeface="Calibri"/>
              </a:rPr>
              <a:t>ABLATION TAKEAWAYS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TextBox 3"/>
          <p:cNvSpPr/>
          <p:nvPr/>
        </p:nvSpPr>
        <p:spPr>
          <a:xfrm>
            <a:off x="548640" y="640080"/>
            <a:ext cx="1097244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222b35"/>
                </a:solidFill>
                <a:latin typeface="Calibri"/>
              </a:rPr>
              <a:t>What each component is actually buying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Rectangle 4"/>
          <p:cNvSpPr/>
          <p:nvPr/>
        </p:nvSpPr>
        <p:spPr>
          <a:xfrm>
            <a:off x="548640" y="1307520"/>
            <a:ext cx="2285640" cy="25200"/>
          </a:xfrm>
          <a:prstGeom prst="rect">
            <a:avLst/>
          </a:prstGeom>
          <a:solidFill>
            <a:srgbClr val="0b3d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9" name="TextBox 5"/>
          <p:cNvSpPr/>
          <p:nvPr/>
        </p:nvSpPr>
        <p:spPr>
          <a:xfrm>
            <a:off x="548640" y="1554480"/>
            <a:ext cx="10972440" cy="195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STT choice: dual-STT peaks at 29/30; single-Voxtral peaks at 28; single-Scribe plateaus at 26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SpeechLM (audio LLM): not strictly additive on its own - only pays off when the targeted re-listen is enabled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Targeted re-listen: clearest gain on Voxtral-only (26 -&gt; 28); partly redundant once strict-majority kicks in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Whisper timestamper: needed by Voxtral path; modest cost; small effect once candidates already agree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800" spc="-1" strike="noStrike">
                <a:solidFill>
                  <a:srgbClr val="222b35"/>
                </a:solidFill>
                <a:latin typeface="Calibri"/>
              </a:rPr>
              <a:t>Bottom line: the gain over a transcript-only baseline (26 -&gt; 29) comes from THREE things working together, not one component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TextBox 6"/>
          <p:cNvSpPr/>
          <p:nvPr/>
        </p:nvSpPr>
        <p:spPr>
          <a:xfrm>
            <a:off x="548640" y="6492240"/>
            <a:ext cx="73148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TextBox 7"/>
          <p:cNvSpPr/>
          <p:nvPr/>
        </p:nvSpPr>
        <p:spPr>
          <a:xfrm>
            <a:off x="10789920" y="6492240"/>
            <a:ext cx="12798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18 / 19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afb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3" name="TextBox 2"/>
          <p:cNvSpPr/>
          <p:nvPr/>
        </p:nvSpPr>
        <p:spPr>
          <a:xfrm>
            <a:off x="548640" y="320040"/>
            <a:ext cx="109724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b3d91"/>
                </a:solidFill>
                <a:latin typeface="Calibri"/>
              </a:rPr>
              <a:t>ERROR ANALYSIS &amp; CONCLUSION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TextBox 3"/>
          <p:cNvSpPr/>
          <p:nvPr/>
        </p:nvSpPr>
        <p:spPr>
          <a:xfrm>
            <a:off x="548640" y="640080"/>
            <a:ext cx="1097244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222b35"/>
                </a:solidFill>
                <a:latin typeface="Calibri"/>
              </a:rPr>
              <a:t>The one residual error mode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Rectangle 4"/>
          <p:cNvSpPr/>
          <p:nvPr/>
        </p:nvSpPr>
        <p:spPr>
          <a:xfrm>
            <a:off x="548640" y="1307520"/>
            <a:ext cx="2285640" cy="25200"/>
          </a:xfrm>
          <a:prstGeom prst="rect">
            <a:avLst/>
          </a:prstGeom>
          <a:solidFill>
            <a:srgbClr val="0b3d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6" name="TextBox 5"/>
          <p:cNvSpPr/>
          <p:nvPr/>
        </p:nvSpPr>
        <p:spPr>
          <a:xfrm>
            <a:off x="548640" y="1554480"/>
            <a:ext cx="10972440" cy="93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7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700" spc="-1" strike="noStrike">
                <a:solidFill>
                  <a:srgbClr val="222b35"/>
                </a:solidFill>
                <a:latin typeface="Calibri"/>
              </a:rPr>
              <a:t>call_23: emma.andersson@gmail.com - both STTs hear single 's' (Anderson)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7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700" spc="-1" strike="noStrike">
                <a:solidFill>
                  <a:srgbClr val="222b35"/>
                </a:solidFill>
                <a:latin typeface="Calibri"/>
              </a:rPr>
              <a:t>Country detector identifies Swedish, but email piece is also 'anderson' so Net 4 cannot help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7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700" spc="-1" strike="noStrike">
                <a:solidFill>
                  <a:srgbClr val="222b35"/>
                </a:solidFill>
                <a:latin typeface="Calibri"/>
              </a:rPr>
              <a:t>Fix: Swedish surname suffix prior, or sub-second re-listen on the ambiguous consonant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TextBox 6"/>
          <p:cNvSpPr/>
          <p:nvPr/>
        </p:nvSpPr>
        <p:spPr>
          <a:xfrm>
            <a:off x="548640" y="4297680"/>
            <a:ext cx="1097244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0b3d91"/>
                </a:solidFill>
                <a:latin typeface="Calibri"/>
              </a:rPr>
              <a:t>Conclusion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TextBox 7"/>
          <p:cNvSpPr/>
          <p:nvPr/>
        </p:nvSpPr>
        <p:spPr>
          <a:xfrm>
            <a:off x="548640" y="4754880"/>
            <a:ext cx="10972440" cy="93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7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700" spc="-1" strike="noStrike">
                <a:solidFill>
                  <a:srgbClr val="222b35"/>
                </a:solidFill>
                <a:latin typeface="Calibri"/>
              </a:rPr>
              <a:t>Best run reaches 29/30 full-record matches (96.7%)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7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700" spc="-1" strike="noStrike">
                <a:solidFill>
                  <a:srgbClr val="222b35"/>
                </a:solidFill>
                <a:latin typeface="Calibri"/>
              </a:rPr>
              <a:t>Per-key accuracy: 100% phone, 100% first name, 96.7% email + last name on the best run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700" spc="-1" strike="noStrike">
                <a:solidFill>
                  <a:srgbClr val="222b35"/>
                </a:solidFill>
                <a:latin typeface="Calibri"/>
              </a:rPr>
              <a:t>•  </a:t>
            </a:r>
            <a:r>
              <a:rPr b="0" lang="en-US" sz="1700" spc="-1" strike="noStrike">
                <a:solidFill>
                  <a:srgbClr val="222b35"/>
                </a:solidFill>
                <a:latin typeface="Calibri"/>
              </a:rPr>
              <a:t>Code, paper, ablation tooling, and reports all reproducible from the study/ folder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TextBox 8"/>
          <p:cNvSpPr/>
          <p:nvPr/>
        </p:nvSpPr>
        <p:spPr>
          <a:xfrm>
            <a:off x="548640" y="6492240"/>
            <a:ext cx="73148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TextBox 9"/>
          <p:cNvSpPr/>
          <p:nvPr/>
        </p:nvSpPr>
        <p:spPr>
          <a:xfrm>
            <a:off x="10789920" y="6492240"/>
            <a:ext cx="12798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55f6b"/>
                </a:solidFill>
                <a:latin typeface="Calibri"/>
              </a:rPr>
              <a:t>19 / 19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2026-05-03T22:38:37Z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