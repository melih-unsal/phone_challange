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121B7F2-7E69-4041-AAF6-FA9C3DEB973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58A2621-2139-4BDC-B68C-8A4E944D14E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031C255-884D-4E87-821D-58DD39BBF65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B10F3AE-3942-4B46-81BE-0B561BF917F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88FDE9EE-57B2-4E2A-A0D6-13DEB0AC454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5DEB059F-9F3A-4D5A-97CC-D1CE548F66B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429583D8-342C-45AA-BF3B-CB3DDC85DE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2AC48911-9FE1-436C-A105-33AFBA2F3BA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10A39089-100B-401E-8AF9-05563FE8DDF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E0AFC8EE-98C5-4CBA-83D5-F4A2F0AB4DC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95401663-65DD-48C3-B7AE-BB4CBEB3D29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59EDFD7-1AF5-4911-B0E9-900BA354D55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1BF6003-9BE4-4245-A148-B4167CF3E8E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1FF17FB-85B8-4E7F-80B5-EB34103F083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4E19BC2-3088-4206-A77B-EE7574C0FEC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FC711A-A6FD-427B-966C-C5B0AA63D5A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B489B41-B20A-4DFF-A9E5-976D73AC95D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DF2EB0F-5F26-43DB-92BF-92FBF345854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901BD7-BEFB-4AC5-B21C-B47AC61C0D5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70EF671-09FE-4519-B525-FB87DE59304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C565ACD-7E14-47D1-B4E1-DDF343991CE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8FA6764-7739-4AB5-9274-3679660471B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2377440"/>
            <a:ext cx="12191400" cy="182844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548640" y="2514600"/>
            <a:ext cx="10972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PHONEBOT TECHNICAL CHALLENGE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548640" y="2834640"/>
            <a:ext cx="10972440" cy="10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A Multi-Transcript, Self-Consistent,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Audio-Grounded Pipeline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548640" y="4434840"/>
            <a:ext cx="109724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555f6b"/>
                </a:solidFill>
                <a:latin typeface="Calibri"/>
              </a:rPr>
              <a:t>Caller-info extraction from German phone-call recordings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48640" y="4892040"/>
            <a:ext cx="10972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22b35"/>
                </a:solidFill>
                <a:latin typeface="Calibri"/>
              </a:rPr>
              <a:t>Prepared by Melih Unsal for JUPUS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548640" y="5349240"/>
            <a:ext cx="10972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55f6b"/>
                </a:solidFill>
                <a:latin typeface="Calibri"/>
              </a:rPr>
              <a:t>2026-05-03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THE TASK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What I had to extract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TextBox 5"/>
          <p:cNvSpPr/>
          <p:nvPr/>
        </p:nvSpPr>
        <p:spPr>
          <a:xfrm>
            <a:off x="548640" y="1645920"/>
            <a:ext cx="10972440" cy="10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20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222b35"/>
                </a:solidFill>
                <a:latin typeface="Calibri"/>
              </a:rPr>
              <a:t>Input: 30 German phone-call recordings (16-bit WAV)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20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222b35"/>
                </a:solidFill>
                <a:latin typeface="Calibri"/>
              </a:rPr>
              <a:t>Output per call: first name, last name, email, phone number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20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222b35"/>
                </a:solidFill>
                <a:latin typeface="Calibri"/>
              </a:rPr>
              <a:t>Phone must be E.164; email lower-cased; names NFC-normalised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2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WHY IT IS HARD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The dataset is acoustically and linguistically diverse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TextBox 5"/>
          <p:cNvSpPr/>
          <p:nvPr/>
        </p:nvSpPr>
        <p:spPr>
          <a:xfrm>
            <a:off x="548640" y="1645920"/>
            <a:ext cx="10972440" cy="19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Callers from 11 language traditions: German, French, Italian, Spanish, Brazilian, Swedish, Japanese, Polish, English, Arabic, Irish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Diacritics are mandatory (Garcia -&gt; Garcia, Lefevre -&gt; Lefevre)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Spelled-out emails: Punkt, Bindestrich, Unterstrich, 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Long digit sequences with stutters (e.g. ...12313)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German STT systems have no incentive to reproduce non-German orthography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3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ARCHITECTURE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Full pipeline at a glance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4" name="Picture 5" descr="pipeline_only.png"/>
          <p:cNvPicPr/>
          <p:nvPr/>
        </p:nvPicPr>
        <p:blipFill>
          <a:blip r:embed="rId1"/>
          <a:stretch/>
        </p:blipFill>
        <p:spPr>
          <a:xfrm>
            <a:off x="4965120" y="100440"/>
            <a:ext cx="6921720" cy="6504480"/>
          </a:xfrm>
          <a:prstGeom prst="rect">
            <a:avLst/>
          </a:prstGeom>
          <a:ln w="0">
            <a:noFill/>
          </a:ln>
        </p:spPr>
      </p:pic>
      <p:sp>
        <p:nvSpPr>
          <p:cNvPr id="95" name="TextBox 6"/>
          <p:cNvSpPr/>
          <p:nvPr/>
        </p:nvSpPr>
        <p:spPr>
          <a:xfrm>
            <a:off x="1216080" y="6464880"/>
            <a:ext cx="10972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Solid arrows = unconditional flow.   Dashed arrows = lazy paths (Whisper, targeted re-listen).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4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LAYER 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Dual STT Layer: To eliminate model-biased results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TextBox 5"/>
          <p:cNvSpPr/>
          <p:nvPr/>
        </p:nvSpPr>
        <p:spPr>
          <a:xfrm>
            <a:off x="548640" y="1645920"/>
            <a:ext cx="6080400" cy="21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Voxtral-Mini-3B-2507 (local, bf16): strong on letters, no timestamps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ElevenLabs Scribe v2 (API): word timestamps + keyterms biasing (Punkt, Bindestrich, gmail.com, ...)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Errors correlate within one model, uncorrelate across models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Whisper-large-v3-turbo generates the timestamps lazily (Layer 1c)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3" name="Picture 6" descr="pipeline_layer1.png"/>
          <p:cNvPicPr/>
          <p:nvPr/>
        </p:nvPicPr>
        <p:blipFill>
          <a:blip r:embed="rId1"/>
          <a:stretch/>
        </p:blipFill>
        <p:spPr>
          <a:xfrm>
            <a:off x="7315200" y="1389960"/>
            <a:ext cx="4114440" cy="3867480"/>
          </a:xfrm>
          <a:prstGeom prst="rect">
            <a:avLst/>
          </a:prstGeom>
          <a:ln w="0">
            <a:noFill/>
          </a:ln>
        </p:spPr>
      </p:pic>
      <p:sp>
        <p:nvSpPr>
          <p:cNvPr id="104" name="TextBox 7"/>
          <p:cNvSpPr/>
          <p:nvPr/>
        </p:nvSpPr>
        <p:spPr>
          <a:xfrm>
            <a:off x="5486400" y="6400800"/>
            <a:ext cx="5860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55f6b"/>
                </a:solidFill>
                <a:latin typeface="Calibri"/>
              </a:rPr>
              <a:t>Benchmark Link: </a:t>
            </a:r>
            <a:r>
              <a:rPr b="0" i="1" lang="en-US" sz="1100" spc="-1" strike="noStrike">
                <a:solidFill>
                  <a:srgbClr val="0b3d91"/>
                </a:solidFill>
                <a:latin typeface="Calibri"/>
              </a:rPr>
              <a:t>https://huggingface.co/spaces/hf-audio/open_asr_leaderboard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8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9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5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LAYER 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Country detection: To decrease the orthographic mistakes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5"/>
          <p:cNvSpPr/>
          <p:nvPr/>
        </p:nvSpPr>
        <p:spPr>
          <a:xfrm>
            <a:off x="548640" y="1645920"/>
            <a:ext cx="6080400" cy="152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  <a:ea typeface="Noto Sans CJK SC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  <a:ea typeface="Noto Sans CJK SC"/>
              </a:rPr>
              <a:t>Single LLM call decides the caller's linguistic-origin country once ( UK → Mary , Germany →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Marie)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Signals (priority order): email domain, name pattern, phone code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Output is a single country string used by every later layer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2" name="Picture 6" descr="pipeline_layer2.png"/>
          <p:cNvPicPr/>
          <p:nvPr/>
        </p:nvPicPr>
        <p:blipFill>
          <a:blip r:embed="rId1"/>
          <a:stretch/>
        </p:blipFill>
        <p:spPr>
          <a:xfrm>
            <a:off x="7315200" y="1389960"/>
            <a:ext cx="4114440" cy="3867480"/>
          </a:xfrm>
          <a:prstGeom prst="rect">
            <a:avLst/>
          </a:prstGeom>
          <a:ln w="0">
            <a:noFill/>
          </a:ln>
        </p:spPr>
      </p:pic>
      <p:sp>
        <p:nvSpPr>
          <p:cNvPr id="113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6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LAYER 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Candidate-1: Structured output from transcripts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TextBox 5"/>
          <p:cNvSpPr/>
          <p:nvPr/>
        </p:nvSpPr>
        <p:spPr>
          <a:xfrm>
            <a:off x="548640" y="1645920"/>
            <a:ext cx="6080400" cy="22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For each transcript, run gpt-5.4-mini at temperature 0.7, five times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Per-key majority vote -&gt; one candidate per transcript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Prompt embeds country-specific orthography, name&lt;-&gt;email rules, phone prefix rules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Self-consistency averages out single-shot LLM noise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Number of candidate-1s = number of STT models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0" name="Picture 6" descr="pipeline_layer3.png"/>
          <p:cNvPicPr/>
          <p:nvPr/>
        </p:nvPicPr>
        <p:blipFill>
          <a:blip r:embed="rId1"/>
          <a:stretch/>
        </p:blipFill>
        <p:spPr>
          <a:xfrm>
            <a:off x="7315200" y="1389960"/>
            <a:ext cx="4114440" cy="3867480"/>
          </a:xfrm>
          <a:prstGeom prst="rect">
            <a:avLst/>
          </a:prstGeom>
          <a:ln w="0">
            <a:noFill/>
          </a:ln>
        </p:spPr>
      </p:pic>
      <p:sp>
        <p:nvSpPr>
          <p:cNvPr id="121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7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LAYER 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3"/>
          <p:cNvSpPr/>
          <p:nvPr/>
        </p:nvSpPr>
        <p:spPr>
          <a:xfrm>
            <a:off x="548640" y="640080"/>
            <a:ext cx="630936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Candidate-2: SpeechLM directly on the audio to decrease the spelling mistakes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Rectangle 4"/>
          <p:cNvSpPr/>
          <p:nvPr/>
        </p:nvSpPr>
        <p:spPr>
          <a:xfrm>
            <a:off x="548640" y="16459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" name="TextBox 5"/>
          <p:cNvSpPr/>
          <p:nvPr/>
        </p:nvSpPr>
        <p:spPr>
          <a:xfrm>
            <a:off x="548640" y="1984320"/>
            <a:ext cx="6080400" cy="19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Voxtral consumes the WAV plus a single text instruction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Three runs at temperature 0.01 (near-greedy), majority-voted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Strong on literal letters and digits the caller spoke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Weak on diacritics and country-aware orthography (audio carries no orthographic signal)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Different error profile from candidate-1 - this is the point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8" name="Picture 6" descr="pipeline_layer4.png"/>
          <p:cNvPicPr/>
          <p:nvPr/>
        </p:nvPicPr>
        <p:blipFill>
          <a:blip r:embed="rId1"/>
          <a:stretch/>
        </p:blipFill>
        <p:spPr>
          <a:xfrm>
            <a:off x="7315200" y="1389960"/>
            <a:ext cx="4114440" cy="3867480"/>
          </a:xfrm>
          <a:prstGeom prst="rect">
            <a:avLst/>
          </a:prstGeom>
          <a:ln w="0">
            <a:noFill/>
          </a:ln>
        </p:spPr>
      </p:pic>
      <p:sp>
        <p:nvSpPr>
          <p:cNvPr id="129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8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LAYER 4.5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Targeted re-listen: replay the parts you are unsure about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5"/>
          <p:cNvSpPr/>
          <p:nvPr/>
        </p:nvSpPr>
        <p:spPr>
          <a:xfrm>
            <a:off x="548640" y="1645920"/>
            <a:ext cx="6080400" cy="28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Gate: opens only if whole-record candidates disagree on email or phone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Word timestamps come from Scribe or from Whisper (Layer 1c)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Segment detection looks for Punkt/Bindestrich/at + domain hints, or digit-words and 'plus'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Crop the audio to the detected window plus 3 seconds context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Re-prompt the SpeechLM with a single-field prompt, three times, majority-voted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Most records skip the layer entirely - it is selective by design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6" name="Picture 6" descr="pipeline_layer4_5.png"/>
          <p:cNvPicPr/>
          <p:nvPr/>
        </p:nvPicPr>
        <p:blipFill>
          <a:blip r:embed="rId1"/>
          <a:stretch/>
        </p:blipFill>
        <p:spPr>
          <a:xfrm>
            <a:off x="7315200" y="1389960"/>
            <a:ext cx="4114440" cy="3867480"/>
          </a:xfrm>
          <a:prstGeom prst="rect">
            <a:avLst/>
          </a:prstGeom>
          <a:ln w="0">
            <a:noFill/>
          </a:ln>
        </p:spPr>
      </p:pic>
      <p:sp>
        <p:nvSpPr>
          <p:cNvPr id="137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9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LAYER 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Reconciler + 4 deterministic safety nets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TextBox 5"/>
          <p:cNvSpPr/>
          <p:nvPr/>
        </p:nvSpPr>
        <p:spPr>
          <a:xfrm>
            <a:off x="548640" y="1554480"/>
            <a:ext cx="6080400" cy="32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LLM reconciler (gpt-5.4-mini, T=0) sees: transcripts, country, every candidate-1, candidate-2, targeted re-listen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Net 1 - drop targeted email/phone if it is structurally invalid (no @, won't parse)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Net 2 - if every whole-record candidate agrees, that value wins regardless of the LLM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Net 3 - strict majority overrides the LLM (e.g. 2 of 3 candidates agree on the right phone)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Net 4 - email &lt;-&gt; name alignment using ASCII-folded edit distance (fixes Lefevre/Lefebvre/Le Fevre)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Each net catches a class of obvious cases the LLM might miss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4" name="Picture 6" descr="pipeline_layer5.png"/>
          <p:cNvPicPr/>
          <p:nvPr/>
        </p:nvPicPr>
        <p:blipFill>
          <a:blip r:embed="rId1"/>
          <a:stretch/>
        </p:blipFill>
        <p:spPr>
          <a:xfrm>
            <a:off x="7315200" y="1389960"/>
            <a:ext cx="4114440" cy="3867480"/>
          </a:xfrm>
          <a:prstGeom prst="rect">
            <a:avLst/>
          </a:prstGeom>
          <a:ln w="0">
            <a:noFill/>
          </a:ln>
        </p:spPr>
      </p:pic>
      <p:sp>
        <p:nvSpPr>
          <p:cNvPr id="145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10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LAYER 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Schema validation and normalisation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" name="TextBox 5"/>
          <p:cNvSpPr/>
          <p:nvPr/>
        </p:nvSpPr>
        <p:spPr>
          <a:xfrm>
            <a:off x="548640" y="1645920"/>
            <a:ext cx="6080400" cy="19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Pydantic CallerInfo model is the single normalisation point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Names: NFC normalised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Emails: lower-cased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Phone numbers: parsed by phonenumbers, re-emitted in E.164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Same validators.py used by the evaluator -&gt; formatting can never lose points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2" name="Picture 6" descr="pipeline_layer6.png"/>
          <p:cNvPicPr/>
          <p:nvPr/>
        </p:nvPicPr>
        <p:blipFill>
          <a:blip r:embed="rId1"/>
          <a:stretch/>
        </p:blipFill>
        <p:spPr>
          <a:xfrm>
            <a:off x="7315200" y="1389960"/>
            <a:ext cx="4114440" cy="3867480"/>
          </a:xfrm>
          <a:prstGeom prst="rect">
            <a:avLst/>
          </a:prstGeom>
          <a:ln w="0">
            <a:noFill/>
          </a:ln>
        </p:spPr>
      </p:pic>
      <p:sp>
        <p:nvSpPr>
          <p:cNvPr id="153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11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TOOLING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phonebot CLI: one entry point, every config knob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548640" y="1554480"/>
            <a:ext cx="10972440" cy="152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222b35"/>
                </a:solidFill>
                <a:latin typeface="Calibri"/>
              </a:rPr>
              <a:t>phonebot run                  - batch over data/recordings/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222b35"/>
                </a:solidFill>
                <a:latin typeface="Calibri"/>
              </a:rPr>
              <a:t>phonebot extract &lt;wav&gt;        - one recording -&gt; JSON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222b35"/>
                </a:solidFill>
                <a:latin typeface="Calibri"/>
              </a:rPr>
              <a:t>phonebot evaluate &lt;report&gt;    - re-evaluate against ground truth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222b35"/>
                </a:solidFill>
                <a:latin typeface="Calibri"/>
              </a:rPr>
              <a:t>phonebot ablate &lt;flags&gt;       - ablation run, every config knob exposed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600" spc="-1" strike="noStrike">
                <a:solidFill>
                  <a:srgbClr val="222b35"/>
                </a:solidFill>
                <a:latin typeface="Calibri"/>
              </a:rPr>
              <a:t>phonebot doctor               - GPU / API / Langfuse status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Box 6"/>
          <p:cNvSpPr/>
          <p:nvPr/>
        </p:nvSpPr>
        <p:spPr>
          <a:xfrm>
            <a:off x="548640" y="3931920"/>
            <a:ext cx="10972440" cy="12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500" spc="-1" strike="noStrike">
                <a:solidFill>
                  <a:srgbClr val="222b35"/>
                </a:solidFill>
                <a:latin typeface="Consolas"/>
              </a:rPr>
              <a:t>phonebot ablate \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500" spc="-1" strike="noStrike">
                <a:solidFill>
                  <a:srgbClr val="222b35"/>
                </a:solidFill>
                <a:latin typeface="Consolas"/>
              </a:rPr>
              <a:t>    </a:t>
            </a:r>
            <a:r>
              <a:rPr b="0" lang="en-US" sz="1500" spc="-1" strike="noStrike">
                <a:solidFill>
                  <a:srgbClr val="222b35"/>
                </a:solidFill>
                <a:latin typeface="Consolas"/>
              </a:rPr>
              <a:t>--transcription elevenlabs:scribe_v2 \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500" spc="-1" strike="noStrike">
                <a:solidFill>
                  <a:srgbClr val="222b35"/>
                </a:solidFill>
                <a:latin typeface="Consolas"/>
              </a:rPr>
              <a:t>    </a:t>
            </a:r>
            <a:r>
              <a:rPr b="0" lang="en-US" sz="1500" spc="-1" strike="noStrike">
                <a:solidFill>
                  <a:srgbClr val="222b35"/>
                </a:solidFill>
                <a:latin typeface="Consolas"/>
              </a:rPr>
              <a:t>--instruct "" --timestamp "" \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500" spc="-1" strike="noStrike">
                <a:solidFill>
                  <a:srgbClr val="222b35"/>
                </a:solidFill>
                <a:latin typeface="Consolas"/>
              </a:rPr>
              <a:t>    </a:t>
            </a:r>
            <a:r>
              <a:rPr b="0" lang="en-US" sz="1500" spc="-1" strike="noStrike">
                <a:solidFill>
                  <a:srgbClr val="222b35"/>
                </a:solidFill>
                <a:latin typeface="Consolas"/>
              </a:rPr>
              <a:t>--no-targeted --no-auto-resume \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22b35"/>
                </a:solidFill>
                <a:latin typeface="Consolas"/>
              </a:rPr>
              <a:t>    </a:t>
            </a:r>
            <a:r>
              <a:rPr b="0" lang="en-US" sz="1500" spc="-1" strike="noStrike">
                <a:solidFill>
                  <a:srgbClr val="222b35"/>
                </a:solidFill>
                <a:latin typeface="Consolas"/>
              </a:rPr>
              <a:t>--tag scribe_only_no_audiollm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12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RESULTS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Headline accuracy across configurations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67" name="Table 5"/>
          <p:cNvGraphicFramePr/>
          <p:nvPr/>
        </p:nvGraphicFramePr>
        <p:xfrm>
          <a:off x="548640" y="1554480"/>
          <a:ext cx="11063880" cy="4205880"/>
        </p:xfrm>
        <a:graphic>
          <a:graphicData uri="http://schemas.openxmlformats.org/drawingml/2006/table">
            <a:tbl>
              <a:tblPr/>
              <a:tblGrid>
                <a:gridCol w="5029200"/>
                <a:gridCol w="914400"/>
                <a:gridCol w="914400"/>
                <a:gridCol w="4206240"/>
              </a:tblGrid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  <a:endParaRPr b="0" lang="en-US" sz="15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3d9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n runs</a:t>
                      </a:r>
                      <a:endParaRPr b="0" lang="en-US" sz="15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3d9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Best</a:t>
                      </a:r>
                      <a:endParaRPr b="0" lang="en-US" sz="15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3d9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  <a:endParaRPr b="0" lang="en-US" sz="15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3d91"/>
                    </a:solidFill>
                  </a:tcPr>
                </a:tc>
              </a:tr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Voxtral + Scribe  |  full pipeline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3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29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headline (Voxtral + Scribe + audio LLM + targeted)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</a:tr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Voxtral  |  +targeted, no Whisper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1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28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no Whisper Layer 1c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Voxtral  |  +targeted, +Whisper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27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full single-STT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</a:tr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Voxtral  |  no targeted (NEW)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1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26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isolates targeted layer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Scribe  |  no audio LLM, no targeted (NEW)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1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26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transcript-only baseline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</a:tr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Scribe  |  +targeted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1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26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Scribe full stack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Scribe  |  no targeted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25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Scribe minus re-listen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6"/>
          <p:cNvSpPr/>
          <p:nvPr/>
        </p:nvSpPr>
        <p:spPr>
          <a:xfrm>
            <a:off x="548640" y="6035040"/>
            <a:ext cx="10972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c62828"/>
                </a:solidFill>
                <a:latin typeface="Calibri"/>
              </a:rPr>
              <a:t>Best run = 29 / 30 (dual STT + audio LLM + targeted + Whisper)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13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RESULTS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Per-key accuracy: most errors live in last name + email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5" name="Picture 5" descr="per_key_accuracy.png"/>
          <p:cNvPicPr/>
          <p:nvPr/>
        </p:nvPicPr>
        <p:blipFill>
          <a:blip r:embed="rId1"/>
          <a:stretch/>
        </p:blipFill>
        <p:spPr>
          <a:xfrm>
            <a:off x="1188720" y="1463040"/>
            <a:ext cx="9783720" cy="5325480"/>
          </a:xfrm>
          <a:prstGeom prst="rect">
            <a:avLst/>
          </a:prstGeom>
          <a:ln w="0">
            <a:noFill/>
          </a:ln>
        </p:spPr>
      </p:pic>
      <p:sp>
        <p:nvSpPr>
          <p:cNvPr id="176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14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PERFORMANCE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Per-stage wall-clock latency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2" name="Picture 5" descr="timing_breakdown.png"/>
          <p:cNvPicPr/>
          <p:nvPr/>
        </p:nvPicPr>
        <p:blipFill>
          <a:blip r:embed="rId1"/>
          <a:stretch/>
        </p:blipFill>
        <p:spPr>
          <a:xfrm>
            <a:off x="1371600" y="1463040"/>
            <a:ext cx="9417960" cy="4884480"/>
          </a:xfrm>
          <a:prstGeom prst="rect">
            <a:avLst/>
          </a:prstGeom>
          <a:ln w="0">
            <a:noFill/>
          </a:ln>
        </p:spPr>
      </p:pic>
      <p:sp>
        <p:nvSpPr>
          <p:cNvPr id="183" name="TextBox 6"/>
          <p:cNvSpPr/>
          <p:nvPr/>
        </p:nvSpPr>
        <p:spPr>
          <a:xfrm>
            <a:off x="548640" y="635508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55f6b"/>
                </a:solidFill>
                <a:latin typeface="Calibri"/>
              </a:rPr>
              <a:t>Targeted re-listen is conditional - on most records the layer returns immediately.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15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BEHAVIOUR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Agreement drives re-listen activity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0" name="Picture 5" descr="agreement_distribution.png"/>
          <p:cNvPicPr/>
          <p:nvPr/>
        </p:nvPicPr>
        <p:blipFill>
          <a:blip r:embed="rId1"/>
          <a:stretch/>
        </p:blipFill>
        <p:spPr>
          <a:xfrm>
            <a:off x="365760" y="1554480"/>
            <a:ext cx="5760360" cy="3192840"/>
          </a:xfrm>
          <a:prstGeom prst="rect">
            <a:avLst/>
          </a:prstGeom>
          <a:ln w="0">
            <a:noFill/>
          </a:ln>
        </p:spPr>
      </p:pic>
      <p:pic>
        <p:nvPicPr>
          <p:cNvPr id="191" name="Picture 6" descr="targeted_mode_distribution.png"/>
          <p:cNvPicPr/>
          <p:nvPr/>
        </p:nvPicPr>
        <p:blipFill>
          <a:blip r:embed="rId2"/>
          <a:stretch/>
        </p:blipFill>
        <p:spPr>
          <a:xfrm>
            <a:off x="6126480" y="1554480"/>
            <a:ext cx="5760360" cy="3192840"/>
          </a:xfrm>
          <a:prstGeom prst="rect">
            <a:avLst/>
          </a:prstGeom>
          <a:ln w="0">
            <a:noFill/>
          </a:ln>
        </p:spPr>
      </p:pic>
      <p:sp>
        <p:nvSpPr>
          <p:cNvPr id="192" name="TextBox 7"/>
          <p:cNvSpPr/>
          <p:nvPr/>
        </p:nvSpPr>
        <p:spPr>
          <a:xfrm>
            <a:off x="548640" y="6126480"/>
            <a:ext cx="109724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55f6b"/>
                </a:solidFill>
                <a:latin typeface="Calibri"/>
              </a:rPr>
              <a:t>Most records are unanimous on email and phone -&gt; the targeted re-listen is skipped on the majority of the dataset.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8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Box 9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16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ABLATION TAKEAWAYS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What each component is actually buying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548640" y="1554480"/>
            <a:ext cx="10972440" cy="19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STT choice: dual-STT peaks at 29/30; single-Voxtral peaks at 28; single-Scribe plateaus at 26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SpeechLM (audio LLM): not strictly additive on its own - only pays off when the targeted re-listen is enabled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Targeted re-listen: clearest gain on Voxtral-only (26 -&gt; 28); partly redundant once strict-majority kicks 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Whisper timestamper: needed by Voxtral path; modest cost; small effect once candidates already agree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Bottom line: the gain over a transcript-only baseline (26 -&gt; 29) comes from THREE things working together, not one component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17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EXTENSIBILITY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Adding a new entity is three small changes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548640" y="1508760"/>
            <a:ext cx="10972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55f6b"/>
                </a:solidFill>
                <a:latin typeface="Calibri"/>
              </a:rPr>
              <a:t>Every layer is driven by one list:  KEYS = [...]  in src/config.py.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Box 6"/>
          <p:cNvSpPr/>
          <p:nvPr/>
        </p:nvSpPr>
        <p:spPr>
          <a:xfrm>
            <a:off x="548640" y="1965960"/>
            <a:ext cx="109724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222b35"/>
                </a:solidFill>
                <a:latin typeface="Calibri"/>
              </a:rPr>
              <a:t>To add company_name (or address, appointment_date, case_topic, ...):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7"/>
          <p:cNvSpPr/>
          <p:nvPr/>
        </p:nvSpPr>
        <p:spPr>
          <a:xfrm>
            <a:off x="548640" y="2606040"/>
            <a:ext cx="10972440" cy="9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src/config.py: append the key to KEYS and add a &lt;KEY&gt;_RULES string describing how to extract it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src/prompts.py: splice the new rule into EXTRACT_SYSTEM (and any other prompt that should know about it)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src/schema.py: add the field to the CallerInfo Pydantic model (with an optional normaliser)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Box 8"/>
          <p:cNvSpPr/>
          <p:nvPr/>
        </p:nvSpPr>
        <p:spPr>
          <a:xfrm>
            <a:off x="548640" y="4617720"/>
            <a:ext cx="109724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222b35"/>
                </a:solidFill>
                <a:latin typeface="Calibri"/>
              </a:rPr>
              <a:t>Everything else picks it up automatically: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Box 9"/>
          <p:cNvSpPr/>
          <p:nvPr/>
        </p:nvSpPr>
        <p:spPr>
          <a:xfrm>
            <a:off x="548640" y="5074920"/>
            <a:ext cx="10972440" cy="11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Layer 3 majority_vote already iterates KEYS  -&gt;  self-consistency for free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Reconciler safety nets (Net 2 unanimous, Net 3 strict-majority) operate on every key in KEYS  -&gt;  no code change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Schema validator + evaluator share validators.py  -&gt;  prediction and ground truth normalised the same way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Langfuse traces auto-include the new field in every layer's output payload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Box 10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11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18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FUTURE IMPROVEMENTS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Where this goes next, in production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" name="TextBox 5"/>
          <p:cNvSpPr/>
          <p:nvPr/>
        </p:nvSpPr>
        <p:spPr>
          <a:xfrm>
            <a:off x="548640" y="1554480"/>
            <a:ext cx="10972440" cy="17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Real-time streaming: extract fields incrementally as the caller speaks, not after the call ends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TTS-driven clarification: when confidence is low, ask the caller ("M-U-E-L-L-E-R or M-U with umlaut?") instead of guessing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Adaptive memory + dynamic keyterms: confirmed tokens get stored and biased into the next turn's prompts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Multilingual: swap the language code; localise the spelling-marker word lists (Punkt -&gt; piste / prik / ...)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Concurrent users (20+): vLLM continuous batching for the SpeechLM, ElevenLabs pool with per-tenant rate limiting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222b35"/>
                </a:solidFill>
                <a:latin typeface="Calibri"/>
              </a:rPr>
              <a:t>Long conversations: 30-60s chunked windows + incremental extraction; targeted re-listen already shows the pattern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19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ERROR ANALYSIS &amp; CONCLUSION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The one residual error mode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TextBox 5"/>
          <p:cNvSpPr/>
          <p:nvPr/>
        </p:nvSpPr>
        <p:spPr>
          <a:xfrm>
            <a:off x="548640" y="1554480"/>
            <a:ext cx="10972440" cy="92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call_23: emma.andersson@gmail.com - both STTs hear single 'n' (Anderson)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Country detector couldn’t identify Swedish country, because neither email nor phone number does not reveal it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Fix: Swedish surname suffix prior, or sub-second re-listen on the ambiguous consonant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6"/>
          <p:cNvSpPr/>
          <p:nvPr/>
        </p:nvSpPr>
        <p:spPr>
          <a:xfrm>
            <a:off x="548640" y="4297680"/>
            <a:ext cx="109724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0b3d91"/>
                </a:solidFill>
                <a:latin typeface="Calibri"/>
              </a:rPr>
              <a:t>Conclusion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Box 7"/>
          <p:cNvSpPr/>
          <p:nvPr/>
        </p:nvSpPr>
        <p:spPr>
          <a:xfrm>
            <a:off x="548640" y="4754880"/>
            <a:ext cx="10972440" cy="9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Best run reaches 29/30 full-record matches (96.7%)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Per-key accuracy: 100% phone, 100% first name, 96.7% email + last name on the best run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Code, paper, ablation tooling, and reports all reproducible from the study/ folder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8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Box 9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20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Rectangle 5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" name="Rectangle 6"/>
          <p:cNvSpPr/>
          <p:nvPr/>
        </p:nvSpPr>
        <p:spPr>
          <a:xfrm>
            <a:off x="360" y="2286360"/>
            <a:ext cx="12191400" cy="182844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" name="TextBox 15"/>
          <p:cNvSpPr/>
          <p:nvPr/>
        </p:nvSpPr>
        <p:spPr>
          <a:xfrm>
            <a:off x="548640" y="2514600"/>
            <a:ext cx="10972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PHONEBOT TECHNICAL CHALLENGE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16"/>
          <p:cNvSpPr/>
          <p:nvPr/>
        </p:nvSpPr>
        <p:spPr>
          <a:xfrm>
            <a:off x="548640" y="2834640"/>
            <a:ext cx="109724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THANK YOU!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Box 17"/>
          <p:cNvSpPr/>
          <p:nvPr/>
        </p:nvSpPr>
        <p:spPr>
          <a:xfrm>
            <a:off x="548640" y="4434840"/>
            <a:ext cx="109724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18"/>
          <p:cNvSpPr/>
          <p:nvPr/>
        </p:nvSpPr>
        <p:spPr>
          <a:xfrm>
            <a:off x="548640" y="4572000"/>
            <a:ext cx="10972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22b35"/>
                </a:solidFill>
                <a:latin typeface="Calibri"/>
              </a:rPr>
              <a:t>Prepared by Melih Unsal for JUPUS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19"/>
          <p:cNvSpPr/>
          <p:nvPr/>
        </p:nvSpPr>
        <p:spPr>
          <a:xfrm>
            <a:off x="548640" y="5349240"/>
            <a:ext cx="10972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55f6b"/>
                </a:solidFill>
                <a:latin typeface="Calibri"/>
              </a:rPr>
              <a:t>2026-05-03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Box 20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Box 21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21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96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2026-05-05T13:40:22Z</dcterms:modified>
  <cp:revision>15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