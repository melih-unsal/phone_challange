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435F70F-EB32-435A-8D2F-561EFF1BCF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7BA987E-20FF-42D3-9759-0F68F42F4D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F75E281-8A9B-4D09-A75E-9B9F0729CD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32CC4B8-F0F6-469B-97F3-A33B1361E4D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C6DFB24-34F2-4DE6-9A21-51934082C1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F0FCA757-43F4-4000-AAC8-1E82583C81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32FCACA-FE96-4379-A401-7D2151EEC9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24468640-A891-4423-B9C7-9A65F7A852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E76E2093-2B95-4292-8A30-B21549D9A0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B2D03802-4B31-4106-B839-E348220840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AA1D8333-FBDA-44A4-9B1F-5037FA4333F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6900BA6-3CA2-461F-9A34-86DED12A818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78FB2CF-16BD-4710-ACE8-AED7649B2E0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CD73267-0AFC-43FF-88BF-40A918DE49B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88BF9CB-CFD9-4849-A88B-2C34BEC5384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917CBBD-CE35-4C1F-A662-1268A8DD75A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21C0B40-2F4C-4DB1-95BF-C8EAE765D34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868FA84-83AC-4418-8B16-A05B00233D1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C5A4FA8-7292-4BC4-A9F3-AD898263D35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36B01F8-60C2-4CF6-9C1A-8437725E8A7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1094EED-31B1-4BB3-9A5F-F839A206B64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1354843-F5B2-4616-A6F9-2EDF72714D6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afb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" name="Rectangle 2"/>
          <p:cNvSpPr/>
          <p:nvPr/>
        </p:nvSpPr>
        <p:spPr>
          <a:xfrm>
            <a:off x="0" y="2377440"/>
            <a:ext cx="12191040" cy="1828080"/>
          </a:xfrm>
          <a:prstGeom prst="rect">
            <a:avLst/>
          </a:prstGeom>
          <a:solidFill>
            <a:srgbClr val="0b3d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548640" y="2514600"/>
            <a:ext cx="1097208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PHONEBOT TECHNICAL CHALLENGE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548640" y="2834640"/>
            <a:ext cx="10972080" cy="103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A Multi-Transcript, Self-Consistent,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Audio-Grounded Pipeline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5"/>
          <p:cNvSpPr/>
          <p:nvPr/>
        </p:nvSpPr>
        <p:spPr>
          <a:xfrm>
            <a:off x="548640" y="4434840"/>
            <a:ext cx="1097208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555f6b"/>
                </a:solidFill>
                <a:latin typeface="Calibri"/>
              </a:rPr>
              <a:t>Caller-info extraction from German phone-call recordings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6"/>
          <p:cNvSpPr/>
          <p:nvPr/>
        </p:nvSpPr>
        <p:spPr>
          <a:xfrm>
            <a:off x="548640" y="4892040"/>
            <a:ext cx="109720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22b35"/>
                </a:solidFill>
                <a:latin typeface="Calibri"/>
              </a:rPr>
              <a:t>Prepared by Melih Unsal for JUPUS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7"/>
          <p:cNvSpPr/>
          <p:nvPr/>
        </p:nvSpPr>
        <p:spPr>
          <a:xfrm>
            <a:off x="548640" y="5349240"/>
            <a:ext cx="1097208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555f6b"/>
                </a:solidFill>
                <a:latin typeface="Calibri"/>
              </a:rPr>
              <a:t>2026-05-03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8"/>
          <p:cNvSpPr/>
          <p:nvPr/>
        </p:nvSpPr>
        <p:spPr>
          <a:xfrm>
            <a:off x="548640" y="6492240"/>
            <a:ext cx="7314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9"/>
          <p:cNvSpPr/>
          <p:nvPr/>
        </p:nvSpPr>
        <p:spPr>
          <a:xfrm>
            <a:off x="10789920" y="6492240"/>
            <a:ext cx="12794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1 / 19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afb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548640" y="320040"/>
            <a:ext cx="10972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b3d91"/>
                </a:solidFill>
                <a:latin typeface="Calibri"/>
              </a:rPr>
              <a:t>THE TASK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548640" y="640080"/>
            <a:ext cx="109720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222b35"/>
                </a:solidFill>
                <a:latin typeface="Calibri"/>
              </a:rPr>
              <a:t>What I had to extract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Rectangle 4"/>
          <p:cNvSpPr/>
          <p:nvPr/>
        </p:nvSpPr>
        <p:spPr>
          <a:xfrm>
            <a:off x="548640" y="1307520"/>
            <a:ext cx="2285280" cy="24840"/>
          </a:xfrm>
          <a:prstGeom prst="rect">
            <a:avLst/>
          </a:prstGeom>
          <a:solidFill>
            <a:srgbClr val="0b3d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" name="TextBox 5"/>
          <p:cNvSpPr/>
          <p:nvPr/>
        </p:nvSpPr>
        <p:spPr>
          <a:xfrm>
            <a:off x="548640" y="1645920"/>
            <a:ext cx="10972080" cy="14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222b35"/>
                </a:solidFill>
                <a:latin typeface="Calibri"/>
              </a:rPr>
              <a:t>Input: 30 German phone-call recordings (16-bit WAV)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222b35"/>
                </a:solidFill>
                <a:latin typeface="Calibri"/>
              </a:rPr>
              <a:t>Output per call: first name, last name, email, phone number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222b35"/>
                </a:solidFill>
                <a:latin typeface="Calibri"/>
              </a:rPr>
              <a:t>Phone must be E.164; email lower-cased; names NFC-normalised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222b35"/>
                </a:solidFill>
                <a:latin typeface="Calibri"/>
              </a:rPr>
              <a:t>Ground truth allows multiple acceptable spellings per field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Box 6"/>
          <p:cNvSpPr/>
          <p:nvPr/>
        </p:nvSpPr>
        <p:spPr>
          <a:xfrm>
            <a:off x="548640" y="6492240"/>
            <a:ext cx="7314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Box 7"/>
          <p:cNvSpPr/>
          <p:nvPr/>
        </p:nvSpPr>
        <p:spPr>
          <a:xfrm>
            <a:off x="10789920" y="6492240"/>
            <a:ext cx="12794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2 / 19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3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afb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" name="TextBox 1"/>
          <p:cNvSpPr/>
          <p:nvPr/>
        </p:nvSpPr>
        <p:spPr>
          <a:xfrm>
            <a:off x="548640" y="320040"/>
            <a:ext cx="10972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b3d91"/>
                </a:solidFill>
                <a:latin typeface="Calibri"/>
              </a:rPr>
              <a:t>WHY IT IS HARD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548640" y="640080"/>
            <a:ext cx="109720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222b35"/>
                </a:solidFill>
                <a:latin typeface="Calibri"/>
              </a:rPr>
              <a:t>The dataset is acoustically and linguistically diverse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Rectangle 5"/>
          <p:cNvSpPr/>
          <p:nvPr/>
        </p:nvSpPr>
        <p:spPr>
          <a:xfrm>
            <a:off x="548640" y="1307520"/>
            <a:ext cx="2285280" cy="24840"/>
          </a:xfrm>
          <a:prstGeom prst="rect">
            <a:avLst/>
          </a:prstGeom>
          <a:solidFill>
            <a:srgbClr val="0b3d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TextBox 11"/>
          <p:cNvSpPr/>
          <p:nvPr/>
        </p:nvSpPr>
        <p:spPr>
          <a:xfrm>
            <a:off x="548640" y="1645920"/>
            <a:ext cx="10972080" cy="19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Callers from 11 language traditions: German, French, Italian, Spanish, Brazilian, Swedish, Japanese, Polish, English, Arabic, Irish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Diacritics are mandatory (Garcia -&gt; Garcia, Lefevre -&gt; Lefevre)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Spelled-out emails: Punkt, Bindestrich, Unterstrich, 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Long digit sequences with stutters (e.g. ...12313)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German STT systems have no incentive to reproduce non-German orthography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12"/>
          <p:cNvSpPr/>
          <p:nvPr/>
        </p:nvSpPr>
        <p:spPr>
          <a:xfrm>
            <a:off x="548640" y="6492240"/>
            <a:ext cx="7314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13"/>
          <p:cNvSpPr/>
          <p:nvPr/>
        </p:nvSpPr>
        <p:spPr>
          <a:xfrm>
            <a:off x="10789920" y="6492240"/>
            <a:ext cx="12794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3 / 19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afb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548640" y="320040"/>
            <a:ext cx="10972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b3d91"/>
                </a:solidFill>
                <a:latin typeface="Calibri"/>
              </a:rPr>
              <a:t>ARCHITECTURE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548640" y="640080"/>
            <a:ext cx="109720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222b35"/>
                </a:solidFill>
                <a:latin typeface="Calibri"/>
              </a:rPr>
              <a:t>Full pipeline at a glance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Rectangle 4"/>
          <p:cNvSpPr/>
          <p:nvPr/>
        </p:nvSpPr>
        <p:spPr>
          <a:xfrm>
            <a:off x="548640" y="1307520"/>
            <a:ext cx="2285280" cy="24840"/>
          </a:xfrm>
          <a:prstGeom prst="rect">
            <a:avLst/>
          </a:prstGeom>
          <a:solidFill>
            <a:srgbClr val="0b3d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7" name="Picture 5" descr="pipeline_only.png"/>
          <p:cNvPicPr/>
          <p:nvPr/>
        </p:nvPicPr>
        <p:blipFill>
          <a:blip r:embed="rId1"/>
          <a:stretch/>
        </p:blipFill>
        <p:spPr>
          <a:xfrm>
            <a:off x="4964760" y="103680"/>
            <a:ext cx="6922080" cy="6068160"/>
          </a:xfrm>
          <a:prstGeom prst="rect">
            <a:avLst/>
          </a:prstGeom>
          <a:ln w="0">
            <a:noFill/>
          </a:ln>
        </p:spPr>
      </p:pic>
      <p:sp>
        <p:nvSpPr>
          <p:cNvPr id="78" name="TextBox 6"/>
          <p:cNvSpPr/>
          <p:nvPr/>
        </p:nvSpPr>
        <p:spPr>
          <a:xfrm>
            <a:off x="1219320" y="6462000"/>
            <a:ext cx="10972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55f6b"/>
                </a:solidFill>
                <a:latin typeface="Calibri"/>
              </a:rPr>
              <a:t>Solid arrows = unconditional flow.   Dashed arrows = lazy paths (Whisper, targeted re-listen).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7"/>
          <p:cNvSpPr/>
          <p:nvPr/>
        </p:nvSpPr>
        <p:spPr>
          <a:xfrm>
            <a:off x="548640" y="6492240"/>
            <a:ext cx="7314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8"/>
          <p:cNvSpPr/>
          <p:nvPr/>
        </p:nvSpPr>
        <p:spPr>
          <a:xfrm>
            <a:off x="10789920" y="6492240"/>
            <a:ext cx="12794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4 / 19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afb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548640" y="320040"/>
            <a:ext cx="10972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b3d91"/>
                </a:solidFill>
                <a:latin typeface="Calibri"/>
              </a:rPr>
              <a:t>LAYER 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548640" y="640080"/>
            <a:ext cx="109720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222b35"/>
                </a:solidFill>
                <a:latin typeface="Calibri"/>
              </a:rPr>
              <a:t>Two STT models in parallel = uncorrelated errors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Rectangle 4"/>
          <p:cNvSpPr/>
          <p:nvPr/>
        </p:nvSpPr>
        <p:spPr>
          <a:xfrm>
            <a:off x="548640" y="1307520"/>
            <a:ext cx="2285280" cy="24840"/>
          </a:xfrm>
          <a:prstGeom prst="rect">
            <a:avLst/>
          </a:prstGeom>
          <a:solidFill>
            <a:srgbClr val="0b3d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5"/>
          <p:cNvSpPr/>
          <p:nvPr/>
        </p:nvSpPr>
        <p:spPr>
          <a:xfrm>
            <a:off x="548640" y="1645920"/>
            <a:ext cx="10972080" cy="13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Voxtral-Mini-3B-2507 (local, bf16): strong on letters, no timestamps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ElevenLabs Scribe v2 (API): word timestamps + keyterms biasing (Punkt, Bindestrich, gmail.com, ...)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Errors correlate within one model, uncorrelate across models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Whisper-large-v3-turbo generates the timestamps lazily (Layer 1c)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6"/>
          <p:cNvSpPr/>
          <p:nvPr/>
        </p:nvSpPr>
        <p:spPr>
          <a:xfrm>
            <a:off x="548640" y="6492240"/>
            <a:ext cx="7314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7"/>
          <p:cNvSpPr/>
          <p:nvPr/>
        </p:nvSpPr>
        <p:spPr>
          <a:xfrm>
            <a:off x="10789920" y="6492240"/>
            <a:ext cx="12794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5 / 19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5486400" y="6400800"/>
            <a:ext cx="585864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55f6b"/>
                </a:solidFill>
                <a:latin typeface="Calibri"/>
              </a:rPr>
              <a:t>Benchmark Link: </a:t>
            </a:r>
            <a:r>
              <a:rPr b="0" i="1" lang="en-US" sz="1200" spc="-1" strike="noStrike">
                <a:solidFill>
                  <a:srgbClr val="555f6b"/>
                </a:solidFill>
                <a:latin typeface="Calibri"/>
              </a:rPr>
              <a:t>https://huggingface.co/spaces/hf-audio/open_asr_leaderboard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afb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548640" y="320040"/>
            <a:ext cx="10972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b3d91"/>
                </a:solidFill>
                <a:latin typeface="Calibri"/>
              </a:rPr>
              <a:t>LAYER 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548640" y="640080"/>
            <a:ext cx="109720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222b35"/>
                </a:solidFill>
                <a:latin typeface="Calibri"/>
              </a:rPr>
              <a:t>Country detection drives orthography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ectangle 4"/>
          <p:cNvSpPr/>
          <p:nvPr/>
        </p:nvSpPr>
        <p:spPr>
          <a:xfrm>
            <a:off x="548640" y="1307520"/>
            <a:ext cx="2285280" cy="24840"/>
          </a:xfrm>
          <a:prstGeom prst="rect">
            <a:avLst/>
          </a:prstGeom>
          <a:solidFill>
            <a:srgbClr val="0b3d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5"/>
          <p:cNvSpPr/>
          <p:nvPr/>
        </p:nvSpPr>
        <p:spPr>
          <a:xfrm>
            <a:off x="548640" y="1645920"/>
            <a:ext cx="10972080" cy="13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Single LLM call decides the caller's linguistic-origin country once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Signals (priority order): email TLD/domain, name pattern, phone code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Hard rule: USA is forbidden as a default for ambiguous names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Output is a single country string used by every later 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6"/>
          <p:cNvSpPr/>
          <p:nvPr/>
        </p:nvSpPr>
        <p:spPr>
          <a:xfrm>
            <a:off x="548640" y="6492240"/>
            <a:ext cx="7314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7"/>
          <p:cNvSpPr/>
          <p:nvPr/>
        </p:nvSpPr>
        <p:spPr>
          <a:xfrm>
            <a:off x="10789920" y="6492240"/>
            <a:ext cx="12794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6 / 19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afb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548640" y="320040"/>
            <a:ext cx="10972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b3d91"/>
                </a:solidFill>
                <a:latin typeface="Calibri"/>
              </a:rPr>
              <a:t>LAYER 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548640" y="640080"/>
            <a:ext cx="109720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222b35"/>
                </a:solidFill>
                <a:latin typeface="Calibri"/>
              </a:rPr>
              <a:t>Candidate-1: self-consistent transcript-LLM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ectangle 4"/>
          <p:cNvSpPr/>
          <p:nvPr/>
        </p:nvSpPr>
        <p:spPr>
          <a:xfrm>
            <a:off x="548640" y="1307520"/>
            <a:ext cx="2285280" cy="24840"/>
          </a:xfrm>
          <a:prstGeom prst="rect">
            <a:avLst/>
          </a:prstGeom>
          <a:solidFill>
            <a:srgbClr val="0b3d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5"/>
          <p:cNvSpPr/>
          <p:nvPr/>
        </p:nvSpPr>
        <p:spPr>
          <a:xfrm>
            <a:off x="548640" y="1645920"/>
            <a:ext cx="10972080" cy="16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For each transcript, run gpt-5.4-mini at temperature 0.7, five times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Per-key majority vote -&gt; one candidate per transcript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Prompt embeds country-specific orthography, name&lt;-&gt;email rules, phone prefix rules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Self-consistency averages out single-shot LLM noise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Number of candidate-1s = number of STT models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6"/>
          <p:cNvSpPr/>
          <p:nvPr/>
        </p:nvSpPr>
        <p:spPr>
          <a:xfrm>
            <a:off x="548640" y="6492240"/>
            <a:ext cx="7314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7"/>
          <p:cNvSpPr/>
          <p:nvPr/>
        </p:nvSpPr>
        <p:spPr>
          <a:xfrm>
            <a:off x="10789920" y="6492240"/>
            <a:ext cx="12794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7 / 19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afb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548640" y="320040"/>
            <a:ext cx="10972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b3d91"/>
                </a:solidFill>
                <a:latin typeface="Calibri"/>
              </a:rPr>
              <a:t>LAYER 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3"/>
          <p:cNvSpPr/>
          <p:nvPr/>
        </p:nvSpPr>
        <p:spPr>
          <a:xfrm>
            <a:off x="548640" y="640080"/>
            <a:ext cx="109720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222b35"/>
                </a:solidFill>
                <a:latin typeface="Calibri"/>
              </a:rPr>
              <a:t>Candidate-2: SpeechLM directly on the audio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ectangle 4"/>
          <p:cNvSpPr/>
          <p:nvPr/>
        </p:nvSpPr>
        <p:spPr>
          <a:xfrm>
            <a:off x="548640" y="1307520"/>
            <a:ext cx="2285280" cy="24840"/>
          </a:xfrm>
          <a:prstGeom prst="rect">
            <a:avLst/>
          </a:prstGeom>
          <a:solidFill>
            <a:srgbClr val="0b3d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TextBox 5"/>
          <p:cNvSpPr/>
          <p:nvPr/>
        </p:nvSpPr>
        <p:spPr>
          <a:xfrm>
            <a:off x="548640" y="1645920"/>
            <a:ext cx="10972080" cy="16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Voxtral consumes the WAV plus a single text instruction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Three runs at temperature 0.01 (near-greedy), majority-voted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Strong on literal letters and digits the caller spoke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Weak on diacritics and country-aware orthography (audio carries no orthographic signal)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Different error profile from candidate-1 - this is the point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6"/>
          <p:cNvSpPr/>
          <p:nvPr/>
        </p:nvSpPr>
        <p:spPr>
          <a:xfrm>
            <a:off x="548640" y="6492240"/>
            <a:ext cx="7314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7"/>
          <p:cNvSpPr/>
          <p:nvPr/>
        </p:nvSpPr>
        <p:spPr>
          <a:xfrm>
            <a:off x="10789920" y="6492240"/>
            <a:ext cx="12794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8 / 19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afb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2"/>
          <p:cNvSpPr/>
          <p:nvPr/>
        </p:nvSpPr>
        <p:spPr>
          <a:xfrm>
            <a:off x="548640" y="320040"/>
            <a:ext cx="10972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b3d91"/>
                </a:solidFill>
                <a:latin typeface="Calibri"/>
              </a:rPr>
              <a:t>LAYER 4.5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3"/>
          <p:cNvSpPr/>
          <p:nvPr/>
        </p:nvSpPr>
        <p:spPr>
          <a:xfrm>
            <a:off x="548640" y="640080"/>
            <a:ext cx="109720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222b35"/>
                </a:solidFill>
                <a:latin typeface="Calibri"/>
              </a:rPr>
              <a:t>Targeted re-listen: rewind the parts you are unsure about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ectangle 4"/>
          <p:cNvSpPr/>
          <p:nvPr/>
        </p:nvSpPr>
        <p:spPr>
          <a:xfrm>
            <a:off x="548640" y="1307520"/>
            <a:ext cx="2285280" cy="24840"/>
          </a:xfrm>
          <a:prstGeom prst="rect">
            <a:avLst/>
          </a:prstGeom>
          <a:solidFill>
            <a:srgbClr val="0b3d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5"/>
          <p:cNvSpPr/>
          <p:nvPr/>
        </p:nvSpPr>
        <p:spPr>
          <a:xfrm>
            <a:off x="548640" y="1645920"/>
            <a:ext cx="10972080" cy="20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Gate: opens only if whole-record candidates disagree on email or phone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Word timestamps come from Scribe or from Whisper (Layer 1c)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Segment detection looks for Punkt/Bindestrich/at + domain hints, or digit-words and 'plus'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Crop the audio to the detected window plus 3 seconds context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Re-prompt the SpeechLM with a single-field prompt, three times, majority-voted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Most records skip the layer entirely - it is selective by design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6"/>
          <p:cNvSpPr/>
          <p:nvPr/>
        </p:nvSpPr>
        <p:spPr>
          <a:xfrm>
            <a:off x="548640" y="6492240"/>
            <a:ext cx="7314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7"/>
          <p:cNvSpPr/>
          <p:nvPr/>
        </p:nvSpPr>
        <p:spPr>
          <a:xfrm>
            <a:off x="10789920" y="6492240"/>
            <a:ext cx="12794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9 / 19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afb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TextBox 2"/>
          <p:cNvSpPr/>
          <p:nvPr/>
        </p:nvSpPr>
        <p:spPr>
          <a:xfrm>
            <a:off x="548640" y="320040"/>
            <a:ext cx="10972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b3d91"/>
                </a:solidFill>
                <a:latin typeface="Calibri"/>
              </a:rPr>
              <a:t>LAYER 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3"/>
          <p:cNvSpPr/>
          <p:nvPr/>
        </p:nvSpPr>
        <p:spPr>
          <a:xfrm>
            <a:off x="548640" y="640080"/>
            <a:ext cx="109720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222b35"/>
                </a:solidFill>
                <a:latin typeface="Calibri"/>
              </a:rPr>
              <a:t>Reconciler + 4 deterministic safety nets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ectangle 4"/>
          <p:cNvSpPr/>
          <p:nvPr/>
        </p:nvSpPr>
        <p:spPr>
          <a:xfrm>
            <a:off x="548640" y="1307520"/>
            <a:ext cx="2285280" cy="24840"/>
          </a:xfrm>
          <a:prstGeom prst="rect">
            <a:avLst/>
          </a:prstGeom>
          <a:solidFill>
            <a:srgbClr val="0b3d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TextBox 5"/>
          <p:cNvSpPr/>
          <p:nvPr/>
        </p:nvSpPr>
        <p:spPr>
          <a:xfrm>
            <a:off x="548640" y="1554480"/>
            <a:ext cx="10972080" cy="19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b35"/>
                </a:solidFill>
                <a:latin typeface="Calibri"/>
              </a:rPr>
              <a:t>LLM reconciler (gpt-5.4-mini, T=0) sees: transcripts, country, every candidate-1, candidate-2, targeted re-listen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b35"/>
                </a:solidFill>
                <a:latin typeface="Calibri"/>
              </a:rPr>
              <a:t>Net 1 - drop targeted email/phone if it is structurally invalid (no @, won't parse)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b35"/>
                </a:solidFill>
                <a:latin typeface="Calibri"/>
              </a:rPr>
              <a:t>Net 2 - if every whole-record candidate agrees, that value wins regardless of the LLM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b35"/>
                </a:solidFill>
                <a:latin typeface="Calibri"/>
              </a:rPr>
              <a:t>Net 3 - strict majority overrides the LLM (e.g. 2 of 3 candidates agree on the right phone)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b35"/>
                </a:solidFill>
                <a:latin typeface="Calibri"/>
              </a:rPr>
              <a:t>Net 4 - email &lt;-&gt; name alignment using ASCII-folded edit distance (fixes Lefevre/Lefebvre/Le Fevre)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b35"/>
                </a:solidFill>
                <a:latin typeface="Calibri"/>
              </a:rPr>
              <a:t>Each net catches a class of obvious cases the LLM might miss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6"/>
          <p:cNvSpPr/>
          <p:nvPr/>
        </p:nvSpPr>
        <p:spPr>
          <a:xfrm>
            <a:off x="548640" y="6492240"/>
            <a:ext cx="7314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7"/>
          <p:cNvSpPr/>
          <p:nvPr/>
        </p:nvSpPr>
        <p:spPr>
          <a:xfrm>
            <a:off x="10789920" y="6492240"/>
            <a:ext cx="12794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10 / 19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afb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TextBox 2"/>
          <p:cNvSpPr/>
          <p:nvPr/>
        </p:nvSpPr>
        <p:spPr>
          <a:xfrm>
            <a:off x="548640" y="320040"/>
            <a:ext cx="10972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b3d91"/>
                </a:solidFill>
                <a:latin typeface="Calibri"/>
              </a:rPr>
              <a:t>LAYER 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3"/>
          <p:cNvSpPr/>
          <p:nvPr/>
        </p:nvSpPr>
        <p:spPr>
          <a:xfrm>
            <a:off x="548640" y="640080"/>
            <a:ext cx="109720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222b35"/>
                </a:solidFill>
                <a:latin typeface="Calibri"/>
              </a:rPr>
              <a:t>Schema validation and normalisation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ectangle 4"/>
          <p:cNvSpPr/>
          <p:nvPr/>
        </p:nvSpPr>
        <p:spPr>
          <a:xfrm>
            <a:off x="548640" y="1307520"/>
            <a:ext cx="2285280" cy="24840"/>
          </a:xfrm>
          <a:prstGeom prst="rect">
            <a:avLst/>
          </a:prstGeom>
          <a:solidFill>
            <a:srgbClr val="0b3d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TextBox 5"/>
          <p:cNvSpPr/>
          <p:nvPr/>
        </p:nvSpPr>
        <p:spPr>
          <a:xfrm>
            <a:off x="548640" y="1645920"/>
            <a:ext cx="10972080" cy="16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Pydantic CallerInfo model is the single normalisation point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Names: NFC normalised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Emails: lower-cased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Phone numbers: parsed by phonenumbers, re-emitted in E.164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Same validators.py used by the evaluator -&gt; formatting can never lose points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6"/>
          <p:cNvSpPr/>
          <p:nvPr/>
        </p:nvSpPr>
        <p:spPr>
          <a:xfrm>
            <a:off x="548640" y="6492240"/>
            <a:ext cx="7314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7"/>
          <p:cNvSpPr/>
          <p:nvPr/>
        </p:nvSpPr>
        <p:spPr>
          <a:xfrm>
            <a:off x="10789920" y="6492240"/>
            <a:ext cx="12794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11 / 19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afb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TextBox 2"/>
          <p:cNvSpPr/>
          <p:nvPr/>
        </p:nvSpPr>
        <p:spPr>
          <a:xfrm>
            <a:off x="548640" y="320040"/>
            <a:ext cx="10972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b3d91"/>
                </a:solidFill>
                <a:latin typeface="Calibri"/>
              </a:rPr>
              <a:t>ABLATION TOOLING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548640" y="640080"/>
            <a:ext cx="109720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222b35"/>
                </a:solidFill>
                <a:latin typeface="Calibri"/>
              </a:rPr>
              <a:t>CLI harness exposing every config knob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Rectangle 4"/>
          <p:cNvSpPr/>
          <p:nvPr/>
        </p:nvSpPr>
        <p:spPr>
          <a:xfrm>
            <a:off x="548640" y="1307520"/>
            <a:ext cx="2285280" cy="24840"/>
          </a:xfrm>
          <a:prstGeom prst="rect">
            <a:avLst/>
          </a:prstGeom>
          <a:solidFill>
            <a:srgbClr val="0b3d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5"/>
          <p:cNvSpPr/>
          <p:nvPr/>
        </p:nvSpPr>
        <p:spPr>
          <a:xfrm>
            <a:off x="548640" y="1645920"/>
            <a:ext cx="10972080" cy="97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study/cli.py mutates src.config before main.py is imported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Every relevant constant in src/config.py becomes a flag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Tagged reports go to study/results/ for aggregation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6"/>
          <p:cNvSpPr/>
          <p:nvPr/>
        </p:nvSpPr>
        <p:spPr>
          <a:xfrm>
            <a:off x="548640" y="4023360"/>
            <a:ext cx="1097208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222b35"/>
                </a:solidFill>
                <a:latin typeface="Consolas"/>
              </a:rPr>
              <a:t>python -m study.cli \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222b35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222b35"/>
                </a:solidFill>
                <a:latin typeface="Consolas"/>
              </a:rPr>
              <a:t>--transcription elevenlabs:scribe_v2 \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222b35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222b35"/>
                </a:solidFill>
                <a:latin typeface="Consolas"/>
              </a:rPr>
              <a:t>--instruct "" --timestamp "" \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222b35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222b35"/>
                </a:solidFill>
                <a:latin typeface="Consolas"/>
              </a:rPr>
              <a:t>--no-targeted --no-auto-resume \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22b35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222b35"/>
                </a:solidFill>
                <a:latin typeface="Consolas"/>
              </a:rPr>
              <a:t>--tag scribe_only_no_audiollm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7"/>
          <p:cNvSpPr/>
          <p:nvPr/>
        </p:nvSpPr>
        <p:spPr>
          <a:xfrm>
            <a:off x="548640" y="6492240"/>
            <a:ext cx="7314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8"/>
          <p:cNvSpPr/>
          <p:nvPr/>
        </p:nvSpPr>
        <p:spPr>
          <a:xfrm>
            <a:off x="10789920" y="6492240"/>
            <a:ext cx="12794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12 / 19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afb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TextBox 2"/>
          <p:cNvSpPr/>
          <p:nvPr/>
        </p:nvSpPr>
        <p:spPr>
          <a:xfrm>
            <a:off x="548640" y="320040"/>
            <a:ext cx="10972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b3d91"/>
                </a:solidFill>
                <a:latin typeface="Calibri"/>
              </a:rPr>
              <a:t>RESULTS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3"/>
          <p:cNvSpPr/>
          <p:nvPr/>
        </p:nvSpPr>
        <p:spPr>
          <a:xfrm>
            <a:off x="548640" y="640080"/>
            <a:ext cx="109720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222b35"/>
                </a:solidFill>
                <a:latin typeface="Calibri"/>
              </a:rPr>
              <a:t>Headline accuracy across configurations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ectangle 4"/>
          <p:cNvSpPr/>
          <p:nvPr/>
        </p:nvSpPr>
        <p:spPr>
          <a:xfrm>
            <a:off x="548640" y="1307520"/>
            <a:ext cx="2285280" cy="24840"/>
          </a:xfrm>
          <a:prstGeom prst="rect">
            <a:avLst/>
          </a:prstGeom>
          <a:solidFill>
            <a:srgbClr val="0b3d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143" name="Table 5"/>
          <p:cNvGraphicFramePr/>
          <p:nvPr/>
        </p:nvGraphicFramePr>
        <p:xfrm>
          <a:off x="548640" y="1554480"/>
          <a:ext cx="10606680" cy="4204800"/>
        </p:xfrm>
        <a:graphic>
          <a:graphicData uri="http://schemas.openxmlformats.org/drawingml/2006/table">
            <a:tbl>
              <a:tblPr/>
              <a:tblGrid>
                <a:gridCol w="6035040"/>
                <a:gridCol w="731520"/>
                <a:gridCol w="1280160"/>
                <a:gridCol w="1280160"/>
                <a:gridCol w="1280160"/>
              </a:tblGrid>
              <a:tr h="525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3d9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3d9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3d9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Std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3d9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Best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3d91"/>
                    </a:solidFill>
                  </a:tcPr>
                </a:tc>
              </a:tr>
              <a:tr h="525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Voxtral + Scribe  |  full pipeline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2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26.5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2.5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29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</a:tr>
              <a:tr h="525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Voxtral  |  +targeted, no Whisper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1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28.0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-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28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5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Voxtral  |  +targeted, +Whisper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2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26.5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0.5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27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</a:tr>
              <a:tr h="525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Voxtral  |  no targeted (NEW)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1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26.0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-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26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5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Scribe  |  no audio LLM, no targeted (NEW)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1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26.0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-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26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</a:tr>
              <a:tr h="525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Scribe  |  +targeted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1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26.0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-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26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5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Scribe  |  no targeted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2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25.0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0.0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b35"/>
                          </a:solidFill>
                          <a:latin typeface="Calibri"/>
                        </a:rPr>
                        <a:t>25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144" name="TextBox 6"/>
          <p:cNvSpPr/>
          <p:nvPr/>
        </p:nvSpPr>
        <p:spPr>
          <a:xfrm>
            <a:off x="548640" y="6035040"/>
            <a:ext cx="1097208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c62828"/>
                </a:solidFill>
                <a:latin typeface="Calibri"/>
              </a:rPr>
              <a:t>Best run = 29 / 30 (dual STT + audio LLM + targeted + Whisper)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7"/>
          <p:cNvSpPr/>
          <p:nvPr/>
        </p:nvSpPr>
        <p:spPr>
          <a:xfrm>
            <a:off x="548640" y="6492240"/>
            <a:ext cx="7314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8"/>
          <p:cNvSpPr/>
          <p:nvPr/>
        </p:nvSpPr>
        <p:spPr>
          <a:xfrm>
            <a:off x="10789920" y="6492240"/>
            <a:ext cx="12794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13 / 19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afb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TextBox 2"/>
          <p:cNvSpPr/>
          <p:nvPr/>
        </p:nvSpPr>
        <p:spPr>
          <a:xfrm>
            <a:off x="548640" y="320040"/>
            <a:ext cx="10972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b3d91"/>
                </a:solidFill>
                <a:latin typeface="Calibri"/>
              </a:rPr>
              <a:t>RESULTS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3"/>
          <p:cNvSpPr/>
          <p:nvPr/>
        </p:nvSpPr>
        <p:spPr>
          <a:xfrm>
            <a:off x="548640" y="640080"/>
            <a:ext cx="109720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222b35"/>
                </a:solidFill>
                <a:latin typeface="Calibri"/>
              </a:rPr>
              <a:t>Full-record matches per configuration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ectangle 4"/>
          <p:cNvSpPr/>
          <p:nvPr/>
        </p:nvSpPr>
        <p:spPr>
          <a:xfrm>
            <a:off x="548640" y="1307520"/>
            <a:ext cx="2285280" cy="24840"/>
          </a:xfrm>
          <a:prstGeom prst="rect">
            <a:avLst/>
          </a:prstGeom>
          <a:solidFill>
            <a:srgbClr val="0b3d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51" name="Picture 5" descr="full_match_by_config.png"/>
          <p:cNvPicPr/>
          <p:nvPr/>
        </p:nvPicPr>
        <p:blipFill>
          <a:blip r:embed="rId1"/>
          <a:stretch/>
        </p:blipFill>
        <p:spPr>
          <a:xfrm>
            <a:off x="1188720" y="1463040"/>
            <a:ext cx="9783360" cy="5860080"/>
          </a:xfrm>
          <a:prstGeom prst="rect">
            <a:avLst/>
          </a:prstGeom>
          <a:ln w="0">
            <a:noFill/>
          </a:ln>
        </p:spPr>
      </p:pic>
      <p:sp>
        <p:nvSpPr>
          <p:cNvPr id="152" name="TextBox 6"/>
          <p:cNvSpPr/>
          <p:nvPr/>
        </p:nvSpPr>
        <p:spPr>
          <a:xfrm>
            <a:off x="548640" y="6492240"/>
            <a:ext cx="7314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7"/>
          <p:cNvSpPr/>
          <p:nvPr/>
        </p:nvSpPr>
        <p:spPr>
          <a:xfrm>
            <a:off x="10789920" y="6492240"/>
            <a:ext cx="12794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14 / 19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afb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TextBox 2"/>
          <p:cNvSpPr/>
          <p:nvPr/>
        </p:nvSpPr>
        <p:spPr>
          <a:xfrm>
            <a:off x="548640" y="320040"/>
            <a:ext cx="10972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b3d91"/>
                </a:solidFill>
                <a:latin typeface="Calibri"/>
              </a:rPr>
              <a:t>RESULTS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3"/>
          <p:cNvSpPr/>
          <p:nvPr/>
        </p:nvSpPr>
        <p:spPr>
          <a:xfrm>
            <a:off x="548640" y="640080"/>
            <a:ext cx="109720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222b35"/>
                </a:solidFill>
                <a:latin typeface="Calibri"/>
              </a:rPr>
              <a:t>Per-key accuracy: most errors live in last name + email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Rectangle 4"/>
          <p:cNvSpPr/>
          <p:nvPr/>
        </p:nvSpPr>
        <p:spPr>
          <a:xfrm>
            <a:off x="548640" y="1307520"/>
            <a:ext cx="2285280" cy="24840"/>
          </a:xfrm>
          <a:prstGeom prst="rect">
            <a:avLst/>
          </a:prstGeom>
          <a:solidFill>
            <a:srgbClr val="0b3d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58" name="Picture 5" descr="per_key_accuracy.png"/>
          <p:cNvPicPr/>
          <p:nvPr/>
        </p:nvPicPr>
        <p:blipFill>
          <a:blip r:embed="rId1"/>
          <a:stretch/>
        </p:blipFill>
        <p:spPr>
          <a:xfrm>
            <a:off x="1188720" y="1463040"/>
            <a:ext cx="9783360" cy="5279400"/>
          </a:xfrm>
          <a:prstGeom prst="rect">
            <a:avLst/>
          </a:prstGeom>
          <a:ln w="0">
            <a:noFill/>
          </a:ln>
        </p:spPr>
      </p:pic>
      <p:sp>
        <p:nvSpPr>
          <p:cNvPr id="159" name="TextBox 6"/>
          <p:cNvSpPr/>
          <p:nvPr/>
        </p:nvSpPr>
        <p:spPr>
          <a:xfrm>
            <a:off x="548640" y="6492240"/>
            <a:ext cx="7314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7"/>
          <p:cNvSpPr/>
          <p:nvPr/>
        </p:nvSpPr>
        <p:spPr>
          <a:xfrm>
            <a:off x="10789920" y="6492240"/>
            <a:ext cx="12794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15 / 19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afb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TextBox 2"/>
          <p:cNvSpPr/>
          <p:nvPr/>
        </p:nvSpPr>
        <p:spPr>
          <a:xfrm>
            <a:off x="548640" y="320040"/>
            <a:ext cx="10972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b3d91"/>
                </a:solidFill>
                <a:latin typeface="Calibri"/>
              </a:rPr>
              <a:t>PERFORMANCE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3"/>
          <p:cNvSpPr/>
          <p:nvPr/>
        </p:nvSpPr>
        <p:spPr>
          <a:xfrm>
            <a:off x="548640" y="640080"/>
            <a:ext cx="109720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222b35"/>
                </a:solidFill>
                <a:latin typeface="Calibri"/>
              </a:rPr>
              <a:t>Per-stage wall-clock latency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Rectangle 4"/>
          <p:cNvSpPr/>
          <p:nvPr/>
        </p:nvSpPr>
        <p:spPr>
          <a:xfrm>
            <a:off x="548640" y="1307520"/>
            <a:ext cx="2285280" cy="24840"/>
          </a:xfrm>
          <a:prstGeom prst="rect">
            <a:avLst/>
          </a:prstGeom>
          <a:solidFill>
            <a:srgbClr val="0b3d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65" name="Picture 5" descr="timing_breakdown.png"/>
          <p:cNvPicPr/>
          <p:nvPr/>
        </p:nvPicPr>
        <p:blipFill>
          <a:blip r:embed="rId1"/>
          <a:stretch/>
        </p:blipFill>
        <p:spPr>
          <a:xfrm>
            <a:off x="1188720" y="1463040"/>
            <a:ext cx="9783360" cy="5070960"/>
          </a:xfrm>
          <a:prstGeom prst="rect">
            <a:avLst/>
          </a:prstGeom>
          <a:ln w="0">
            <a:noFill/>
          </a:ln>
        </p:spPr>
      </p:pic>
      <p:sp>
        <p:nvSpPr>
          <p:cNvPr id="166" name="TextBox 6"/>
          <p:cNvSpPr/>
          <p:nvPr/>
        </p:nvSpPr>
        <p:spPr>
          <a:xfrm>
            <a:off x="548640" y="6355080"/>
            <a:ext cx="10972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55f6b"/>
                </a:solidFill>
                <a:latin typeface="Calibri"/>
              </a:rPr>
              <a:t>Targeted re-listen is conditional - on most records the layer returns immediately.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7"/>
          <p:cNvSpPr/>
          <p:nvPr/>
        </p:nvSpPr>
        <p:spPr>
          <a:xfrm>
            <a:off x="548640" y="6492240"/>
            <a:ext cx="7314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8"/>
          <p:cNvSpPr/>
          <p:nvPr/>
        </p:nvSpPr>
        <p:spPr>
          <a:xfrm>
            <a:off x="10789920" y="6492240"/>
            <a:ext cx="12794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16 / 19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afb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" name="TextBox 2"/>
          <p:cNvSpPr/>
          <p:nvPr/>
        </p:nvSpPr>
        <p:spPr>
          <a:xfrm>
            <a:off x="548640" y="320040"/>
            <a:ext cx="10972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b3d91"/>
                </a:solidFill>
                <a:latin typeface="Calibri"/>
              </a:rPr>
              <a:t>BEHAVIOUR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3"/>
          <p:cNvSpPr/>
          <p:nvPr/>
        </p:nvSpPr>
        <p:spPr>
          <a:xfrm>
            <a:off x="548640" y="640080"/>
            <a:ext cx="109720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222b35"/>
                </a:solidFill>
                <a:latin typeface="Calibri"/>
              </a:rPr>
              <a:t>Agreement drives re-listen activity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Rectangle 4"/>
          <p:cNvSpPr/>
          <p:nvPr/>
        </p:nvSpPr>
        <p:spPr>
          <a:xfrm>
            <a:off x="548640" y="1307520"/>
            <a:ext cx="2285280" cy="24840"/>
          </a:xfrm>
          <a:prstGeom prst="rect">
            <a:avLst/>
          </a:prstGeom>
          <a:solidFill>
            <a:srgbClr val="0b3d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73" name="Picture 5" descr="agreement_distribution.png"/>
          <p:cNvPicPr/>
          <p:nvPr/>
        </p:nvPicPr>
        <p:blipFill>
          <a:blip r:embed="rId1"/>
          <a:stretch/>
        </p:blipFill>
        <p:spPr>
          <a:xfrm>
            <a:off x="365760" y="1554480"/>
            <a:ext cx="5760000" cy="3192480"/>
          </a:xfrm>
          <a:prstGeom prst="rect">
            <a:avLst/>
          </a:prstGeom>
          <a:ln w="0">
            <a:noFill/>
          </a:ln>
        </p:spPr>
      </p:pic>
      <p:pic>
        <p:nvPicPr>
          <p:cNvPr id="174" name="Picture 6" descr="targeted_mode_distribution.png"/>
          <p:cNvPicPr/>
          <p:nvPr/>
        </p:nvPicPr>
        <p:blipFill>
          <a:blip r:embed="rId2"/>
          <a:stretch/>
        </p:blipFill>
        <p:spPr>
          <a:xfrm>
            <a:off x="6126480" y="1554480"/>
            <a:ext cx="5760000" cy="3192480"/>
          </a:xfrm>
          <a:prstGeom prst="rect">
            <a:avLst/>
          </a:prstGeom>
          <a:ln w="0">
            <a:noFill/>
          </a:ln>
        </p:spPr>
      </p:pic>
      <p:sp>
        <p:nvSpPr>
          <p:cNvPr id="175" name="TextBox 7"/>
          <p:cNvSpPr/>
          <p:nvPr/>
        </p:nvSpPr>
        <p:spPr>
          <a:xfrm>
            <a:off x="548640" y="6126480"/>
            <a:ext cx="109720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55f6b"/>
                </a:solidFill>
                <a:latin typeface="Calibri"/>
              </a:rPr>
              <a:t>Most records are unanimous on email and phone -&gt; the targeted re-listen is skipped on the majority of the dataset.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8"/>
          <p:cNvSpPr/>
          <p:nvPr/>
        </p:nvSpPr>
        <p:spPr>
          <a:xfrm>
            <a:off x="548640" y="6492240"/>
            <a:ext cx="7314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9"/>
          <p:cNvSpPr/>
          <p:nvPr/>
        </p:nvSpPr>
        <p:spPr>
          <a:xfrm>
            <a:off x="10789920" y="6492240"/>
            <a:ext cx="12794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17 / 19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afb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TextBox 2"/>
          <p:cNvSpPr/>
          <p:nvPr/>
        </p:nvSpPr>
        <p:spPr>
          <a:xfrm>
            <a:off x="548640" y="320040"/>
            <a:ext cx="10972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b3d91"/>
                </a:solidFill>
                <a:latin typeface="Calibri"/>
              </a:rPr>
              <a:t>ABLATION TAKEAWAYS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3"/>
          <p:cNvSpPr/>
          <p:nvPr/>
        </p:nvSpPr>
        <p:spPr>
          <a:xfrm>
            <a:off x="548640" y="640080"/>
            <a:ext cx="109720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222b35"/>
                </a:solidFill>
                <a:latin typeface="Calibri"/>
              </a:rPr>
              <a:t>What each component is actually buying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Rectangle 4"/>
          <p:cNvSpPr/>
          <p:nvPr/>
        </p:nvSpPr>
        <p:spPr>
          <a:xfrm>
            <a:off x="548640" y="1307520"/>
            <a:ext cx="2285280" cy="24840"/>
          </a:xfrm>
          <a:prstGeom prst="rect">
            <a:avLst/>
          </a:prstGeom>
          <a:solidFill>
            <a:srgbClr val="0b3d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TextBox 5"/>
          <p:cNvSpPr/>
          <p:nvPr/>
        </p:nvSpPr>
        <p:spPr>
          <a:xfrm>
            <a:off x="548640" y="1554480"/>
            <a:ext cx="10972080" cy="19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STT choice: dual-STT peaks at 29/30; single-Voxtral peaks at 28; single-Scribe plateaus at 26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SpeechLM (audio LLM): not strictly additive on its own - only pays off when the targeted re-listen is enabled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Targeted re-listen: clearest gain on Voxtral-only (26 -&gt; 28); partly redundant once strict-majority kicks in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Whisper timestamper: needed by Voxtral path; modest cost; small effect once candidates already agree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222b35"/>
                </a:solidFill>
                <a:latin typeface="Calibri"/>
              </a:rPr>
              <a:t>Bottom line: the gain over a transcript-only baseline (26 -&gt; 29) comes from THREE things working together, not one component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Box 6"/>
          <p:cNvSpPr/>
          <p:nvPr/>
        </p:nvSpPr>
        <p:spPr>
          <a:xfrm>
            <a:off x="548640" y="6492240"/>
            <a:ext cx="7314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7"/>
          <p:cNvSpPr/>
          <p:nvPr/>
        </p:nvSpPr>
        <p:spPr>
          <a:xfrm>
            <a:off x="10789920" y="6492240"/>
            <a:ext cx="12794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18 / 19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afb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TextBox 2"/>
          <p:cNvSpPr/>
          <p:nvPr/>
        </p:nvSpPr>
        <p:spPr>
          <a:xfrm>
            <a:off x="548640" y="320040"/>
            <a:ext cx="10972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b3d91"/>
                </a:solidFill>
                <a:latin typeface="Calibri"/>
              </a:rPr>
              <a:t>ERROR ANALYSIS &amp; CONCLUSION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3"/>
          <p:cNvSpPr/>
          <p:nvPr/>
        </p:nvSpPr>
        <p:spPr>
          <a:xfrm>
            <a:off x="548640" y="640080"/>
            <a:ext cx="109720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222b35"/>
                </a:solidFill>
                <a:latin typeface="Calibri"/>
              </a:rPr>
              <a:t>The one residual error mode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Rectangle 4"/>
          <p:cNvSpPr/>
          <p:nvPr/>
        </p:nvSpPr>
        <p:spPr>
          <a:xfrm>
            <a:off x="548640" y="1307520"/>
            <a:ext cx="2285280" cy="24840"/>
          </a:xfrm>
          <a:prstGeom prst="rect">
            <a:avLst/>
          </a:prstGeom>
          <a:solidFill>
            <a:srgbClr val="0b3d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TextBox 5"/>
          <p:cNvSpPr/>
          <p:nvPr/>
        </p:nvSpPr>
        <p:spPr>
          <a:xfrm>
            <a:off x="548640" y="1554480"/>
            <a:ext cx="10972080" cy="93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b35"/>
                </a:solidFill>
                <a:latin typeface="Calibri"/>
              </a:rPr>
              <a:t>call_23: emma.andersson@gmail.com - both STTs hear single 'n' (Anderson)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b35"/>
                </a:solidFill>
                <a:latin typeface="Calibri"/>
              </a:rPr>
              <a:t>Country detector identifies Swedish, but email piece is also 'anderson' so Net 4 cannot help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b35"/>
                </a:solidFill>
                <a:latin typeface="Calibri"/>
              </a:rPr>
              <a:t>Fix: Swedish surname suffix prior, or sub-second re-listen on the ambiguous consonant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Box 6"/>
          <p:cNvSpPr/>
          <p:nvPr/>
        </p:nvSpPr>
        <p:spPr>
          <a:xfrm>
            <a:off x="548640" y="4297680"/>
            <a:ext cx="1097208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b3d91"/>
                </a:solidFill>
                <a:latin typeface="Calibri"/>
              </a:rPr>
              <a:t>Conclusion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7"/>
          <p:cNvSpPr/>
          <p:nvPr/>
        </p:nvSpPr>
        <p:spPr>
          <a:xfrm>
            <a:off x="548640" y="4754880"/>
            <a:ext cx="10972080" cy="93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b35"/>
                </a:solidFill>
                <a:latin typeface="Calibri"/>
              </a:rPr>
              <a:t>Best run reaches 29/30 full-record matches (96.7%)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b35"/>
                </a:solidFill>
                <a:latin typeface="Calibri"/>
              </a:rPr>
              <a:t>Per-key accuracy: 100% phone, 100% first name, 96.7% email + last name on the best run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pc="-1" strike="noStrike">
                <a:solidFill>
                  <a:srgbClr val="222b35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222b35"/>
                </a:solidFill>
                <a:latin typeface="Calibri"/>
              </a:rPr>
              <a:t>Code, paper, ablation tooling, and reports all reproducible from the study/ folder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8"/>
          <p:cNvSpPr/>
          <p:nvPr/>
        </p:nvSpPr>
        <p:spPr>
          <a:xfrm>
            <a:off x="548640" y="6492240"/>
            <a:ext cx="7314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Phonebot Caller-Info Pipeline  -  Melih Unsal  -  JUPUS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Box 9"/>
          <p:cNvSpPr/>
          <p:nvPr/>
        </p:nvSpPr>
        <p:spPr>
          <a:xfrm>
            <a:off x="10789920" y="6492240"/>
            <a:ext cx="12794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55f6b"/>
                </a:solidFill>
                <a:latin typeface="Calibri"/>
              </a:rPr>
              <a:t>19 / 19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2026-05-03T22:26:36Z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